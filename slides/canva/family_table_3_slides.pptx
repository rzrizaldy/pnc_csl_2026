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moments on the family side, all on a phone. Explore and Onboard are the lead-in; the core journey, where the family actually decides, is Align, Allocate and Activate. Before Margaret ever talks to PNC, the preview shows what a sale could mean for a family like hers. Once she joins, PNC has already filled in the facts; she ranks her goals and says what fair means to her. Claire checks in privately: natural-language processing tags themes, and she decides what Alex may read. Each child sees their own number under every split, votes privately, and a decision tree narrows 12 possible plans to one. Questions go to Alex, not a chatbot: the AI drafts, Alex checks and sends. This answers Margaret's friction: a guided portal, not a dense dashboard, and no direct confrontation at the dinner 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advisor side, stage by stage: the signal in Explore, then one AI tool for each core stage, Align, Allocate and Activate. Each row says what the AI does and what Alex decides, because the rule is that Alex reviews every output before any client action. The signal comes from PNC's own business-account data, a year before closing. The brief is the core insight: Margaret told Alex the kids are on the same page, but the family's widest gap is fairness. Alex sees it as a range, with no names. The AI then turns the brief into a 90-minute meeting guide with screens to present, drafts replies to the family that Alex sends, and routes tasks to five specialist teams. It also flags the $8 to 9 million heading to two heirs who bank elsewhere. This answers Alex's friction: hearing only the founder, undocumented concerns, and capabilities spread across business units.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and alerts are easy to copy; these three assets are not. First, timing: PNC banks the operating company, so its own account data can flag a sale a year before closing, while outside wealth managers see the money only after it moves. Second, private-by-default family intelligence: natural-language processing turns each member's private words into themes inside their own vault, a fixed formula scores the gaps, and Alex sees the size of a disagreement, never the words, and only when at least three people take part. Honest answers given in private are data no competitor can buy or scrape. Third, one household graph links the business to every heir, so the next generation meets PNC before the money moves. The added value: for the family, the fairness question surfaces before the letter of intent. For PNC, in the Wilson case, $27.0M stays, relationships grow from three to five, $8.5M reaches the next generation at PNC, and the fees are about $216K a year at an illustrative 0.8%.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3DE"/>
        </a:solidFill>
        <a:effectLst/>
      </p:bgPr>
    </p:bg>
    <p:spTree>
      <p:nvGrpSpPr>
        <p:cNvPr id="1" name=""/>
        <p:cNvGrpSpPr/>
        <p:nvPr/>
      </p:nvGrpSpPr>
      <p:grpSpPr/>
      <p:sp>
        <p:nvSpPr>
          <p:cNvPr id="2" name="Rectangle 1"/>
          <p:cNvSpPr/>
          <p:nvPr/>
        </p:nvSpPr>
        <p:spPr>
          <a:xfrm>
            <a:off x="11379200" y="0"/>
            <a:ext cx="406400" cy="406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10972800" y="406400"/>
            <a:ext cx="406400" cy="406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785600" y="406400"/>
            <a:ext cx="406400" cy="406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8000" y="342900"/>
            <a:ext cx="9906000" cy="444500"/>
          </a:xfrm>
          <a:prstGeom prst="rect">
            <a:avLst/>
          </a:prstGeom>
          <a:noFill/>
        </p:spPr>
        <p:txBody>
          <a:bodyPr wrap="square" lIns="0" rIns="0" tIns="0" bIns="0" anchor="t">
            <a:spAutoFit/>
          </a:bodyPr>
          <a:lstStyle/>
          <a:p>
            <a:pPr algn="l">
              <a:lnSpc>
                <a:spcPct val="115000"/>
              </a:lnSpc>
            </a:pPr>
            <a:r>
              <a:rPr sz="4200" b="1">
                <a:solidFill>
                  <a:srgbClr val="111111"/>
                </a:solidFill>
                <a:latin typeface="Arial"/>
              </a:rPr>
              <a:t>AI Client &amp; Family Experience</a:t>
            </a:r>
          </a:p>
        </p:txBody>
      </p:sp>
      <p:sp>
        <p:nvSpPr>
          <p:cNvPr id="6" name="TextBox 5"/>
          <p:cNvSpPr txBox="1"/>
          <p:nvPr/>
        </p:nvSpPr>
        <p:spPr>
          <a:xfrm>
            <a:off x="508000" y="863600"/>
            <a:ext cx="9906000" cy="254000"/>
          </a:xfrm>
          <a:prstGeom prst="rect">
            <a:avLst/>
          </a:prstGeom>
          <a:noFill/>
        </p:spPr>
        <p:txBody>
          <a:bodyPr wrap="square" lIns="0" rIns="0" tIns="0" bIns="0" anchor="t">
            <a:spAutoFit/>
          </a:bodyPr>
          <a:lstStyle/>
          <a:p>
            <a:pPr algn="l">
              <a:lnSpc>
                <a:spcPct val="115000"/>
              </a:lnSpc>
            </a:pPr>
            <a:r>
              <a:rPr sz="1800" b="0">
                <a:solidFill>
                  <a:srgbClr val="4A4A4A"/>
                </a:solidFill>
                <a:latin typeface="Arial"/>
              </a:rPr>
              <a:t>Two quick steps to start, then the core journey where the family decides: Align, Allocate, Activate</a:t>
            </a:r>
          </a:p>
        </p:txBody>
      </p:sp>
      <p:sp>
        <p:nvSpPr>
          <p:cNvPr id="7" name="Rectangle 6"/>
          <p:cNvSpPr/>
          <p:nvPr/>
        </p:nvSpPr>
        <p:spPr>
          <a:xfrm>
            <a:off x="508000" y="1181100"/>
            <a:ext cx="3556000" cy="25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8000" y="6527800"/>
            <a:ext cx="11176000" cy="190500"/>
          </a:xfrm>
          <a:prstGeom prst="rect">
            <a:avLst/>
          </a:prstGeom>
          <a:noFill/>
        </p:spPr>
        <p:txBody>
          <a:bodyPr wrap="square" lIns="0" rIns="0" tIns="0" bIns="0" anchor="t">
            <a:spAutoFit/>
          </a:bodyPr>
          <a:lstStyle/>
          <a:p>
            <a:pPr algn="l">
              <a:lnSpc>
                <a:spcPct val="115000"/>
              </a:lnSpc>
            </a:pPr>
            <a:r>
              <a:rPr sz="1200" b="0">
                <a:solidFill>
                  <a:srgbClr val="4A4A4A"/>
                </a:solidFill>
                <a:latin typeface="Arial"/>
              </a:rPr>
              <a:t>Source: Family Table prototype (mobile). The Wilson family, portraits and figures are fictional; AI steps are simulated, formulas are real.</a:t>
            </a:r>
          </a:p>
        </p:txBody>
      </p:sp>
      <p:sp>
        <p:nvSpPr>
          <p:cNvPr id="9" name="Rounded Rectangle 8"/>
          <p:cNvSpPr/>
          <p:nvPr/>
        </p:nvSpPr>
        <p:spPr>
          <a:xfrm>
            <a:off x="4927600" y="1270000"/>
            <a:ext cx="6858000" cy="4292600"/>
          </a:xfrm>
          <a:prstGeom prst="roundRect">
            <a:avLst>
              <a:gd name="adj" fmla="val 3000"/>
            </a:avLst>
          </a:prstGeom>
          <a:solidFill>
            <a:srgbClr val="FFE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320800"/>
            <a:ext cx="6654800" cy="165100"/>
          </a:xfrm>
          <a:prstGeom prst="rect">
            <a:avLst/>
          </a:prstGeom>
          <a:noFill/>
        </p:spPr>
        <p:txBody>
          <a:bodyPr wrap="square" lIns="0" rIns="0" tIns="0" bIns="0" anchor="t">
            <a:spAutoFit/>
          </a:bodyPr>
          <a:lstStyle/>
          <a:p>
            <a:pPr algn="r">
              <a:lnSpc>
                <a:spcPct val="115000"/>
              </a:lnSpc>
            </a:pPr>
            <a:r>
              <a:rPr sz="1275" b="1">
                <a:solidFill>
                  <a:srgbClr val="FF6A33"/>
                </a:solidFill>
                <a:latin typeface="Arial"/>
              </a:rPr>
              <a:t>Core journey</a:t>
            </a:r>
          </a:p>
        </p:txBody>
      </p:sp>
      <p:sp>
        <p:nvSpPr>
          <p:cNvPr id="11" name="Rounded Rectangle 10"/>
          <p:cNvSpPr/>
          <p:nvPr/>
        </p:nvSpPr>
        <p:spPr>
          <a:xfrm>
            <a:off x="508000" y="1358900"/>
            <a:ext cx="666750" cy="215900"/>
          </a:xfrm>
          <a:prstGeom prst="roundRect">
            <a:avLst>
              <a:gd name="adj" fmla="val 50000"/>
            </a:avLst>
          </a:prstGeom>
          <a:solidFill>
            <a:srgbClr val="EADC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75" b="1">
                <a:solidFill>
                  <a:srgbClr val="344C5F"/>
                </a:solidFill>
                <a:latin typeface="Arial"/>
              </a:rPr>
              <a:t>Explore</a:t>
            </a:r>
          </a:p>
        </p:txBody>
      </p:sp>
      <p:pic>
        <p:nvPicPr>
          <p:cNvPr id="12" name="Picture 11" descr="p1_preview.png"/>
          <p:cNvPicPr>
            <a:picLocks noChangeAspect="1"/>
          </p:cNvPicPr>
          <p:nvPr/>
        </p:nvPicPr>
        <p:blipFill>
          <a:blip r:embed="rId2"/>
          <a:stretch>
            <a:fillRect/>
          </a:stretch>
        </p:blipFill>
        <p:spPr>
          <a:xfrm>
            <a:off x="895350" y="1663700"/>
            <a:ext cx="1358900" cy="2841930"/>
          </a:xfrm>
          <a:prstGeom prst="rect">
            <a:avLst/>
          </a:prstGeom>
        </p:spPr>
      </p:pic>
      <p:sp>
        <p:nvSpPr>
          <p:cNvPr id="13" name="TextBox 12"/>
          <p:cNvSpPr txBox="1"/>
          <p:nvPr/>
        </p:nvSpPr>
        <p:spPr>
          <a:xfrm>
            <a:off x="508000" y="4660900"/>
            <a:ext cx="2133600" cy="190500"/>
          </a:xfrm>
          <a:prstGeom prst="rect">
            <a:avLst/>
          </a:prstGeom>
          <a:noFill/>
        </p:spPr>
        <p:txBody>
          <a:bodyPr wrap="square" lIns="0" rIns="0" tIns="0" bIns="0" anchor="t">
            <a:spAutoFit/>
          </a:bodyPr>
          <a:lstStyle/>
          <a:p>
            <a:pPr algn="l">
              <a:lnSpc>
                <a:spcPct val="115000"/>
              </a:lnSpc>
            </a:pPr>
            <a:r>
              <a:rPr sz="1650" b="1">
                <a:solidFill>
                  <a:srgbClr val="111111"/>
                </a:solidFill>
                <a:latin typeface="Arial"/>
              </a:rPr>
              <a:t>See what a sale could mean</a:t>
            </a:r>
          </a:p>
        </p:txBody>
      </p:sp>
      <p:sp>
        <p:nvSpPr>
          <p:cNvPr id="14" name="TextBox 13"/>
          <p:cNvSpPr txBox="1"/>
          <p:nvPr/>
        </p:nvSpPr>
        <p:spPr>
          <a:xfrm>
            <a:off x="508000" y="4864100"/>
            <a:ext cx="2133600" cy="393700"/>
          </a:xfrm>
          <a:prstGeom prst="rect">
            <a:avLst/>
          </a:prstGeom>
          <a:noFill/>
        </p:spPr>
        <p:txBody>
          <a:bodyPr wrap="square" lIns="0" rIns="0" tIns="0" bIns="0" anchor="t">
            <a:spAutoFit/>
          </a:bodyPr>
          <a:lstStyle/>
          <a:p>
            <a:pPr algn="l">
              <a:lnSpc>
                <a:spcPct val="110000"/>
              </a:lnSpc>
            </a:pPr>
            <a:r>
              <a:rPr sz="1275" b="0">
                <a:solidFill>
                  <a:srgbClr val="4A4A4A"/>
                </a:solidFill>
                <a:latin typeface="Arial"/>
              </a:rPr>
              <a:t>Before talking to anyone: the likely amount at closing, and two ways to split it.</a:t>
            </a:r>
          </a:p>
        </p:txBody>
      </p:sp>
      <p:sp>
        <p:nvSpPr>
          <p:cNvPr id="15" name="TextBox 14"/>
          <p:cNvSpPr txBox="1"/>
          <p:nvPr/>
        </p:nvSpPr>
        <p:spPr>
          <a:xfrm>
            <a:off x="508000" y="5321300"/>
            <a:ext cx="2133600" cy="165100"/>
          </a:xfrm>
          <a:prstGeom prst="rect">
            <a:avLst/>
          </a:prstGeom>
          <a:noFill/>
        </p:spPr>
        <p:txBody>
          <a:bodyPr wrap="square" lIns="0" rIns="0" tIns="0" bIns="0" anchor="t">
            <a:spAutoFit/>
          </a:bodyPr>
          <a:lstStyle/>
          <a:p>
            <a:pPr algn="l">
              <a:lnSpc>
                <a:spcPct val="105000"/>
              </a:lnSpc>
            </a:pPr>
            <a:r>
              <a:rPr sz="1200" b="1">
                <a:solidFill>
                  <a:srgbClr val="0069AA"/>
                </a:solidFill>
                <a:latin typeface="Arial"/>
              </a:rPr>
              <a:t>AI: </a:t>
            </a:r>
            <a:r>
              <a:rPr sz="1200" b="0">
                <a:solidFill>
                  <a:srgbClr val="0069AA"/>
                </a:solidFill>
                <a:latin typeface="Arial"/>
              </a:rPr>
              <a:t>none; fixed ratios do the math.</a:t>
            </a:r>
          </a:p>
        </p:txBody>
      </p:sp>
      <p:sp>
        <p:nvSpPr>
          <p:cNvPr id="16" name="Rounded Rectangle 15"/>
          <p:cNvSpPr/>
          <p:nvPr/>
        </p:nvSpPr>
        <p:spPr>
          <a:xfrm>
            <a:off x="2768600" y="1358900"/>
            <a:ext cx="666750" cy="215900"/>
          </a:xfrm>
          <a:prstGeom prst="roundRect">
            <a:avLst>
              <a:gd name="adj" fmla="val 50000"/>
            </a:avLst>
          </a:prstGeom>
          <a:solidFill>
            <a:srgbClr val="EADCC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75" b="1">
                <a:solidFill>
                  <a:srgbClr val="344C5F"/>
                </a:solidFill>
                <a:latin typeface="Arial"/>
              </a:rPr>
              <a:t>Onboard</a:t>
            </a:r>
          </a:p>
        </p:txBody>
      </p:sp>
      <p:pic>
        <p:nvPicPr>
          <p:cNvPr id="17" name="Picture 16" descr="p2_setup.png"/>
          <p:cNvPicPr>
            <a:picLocks noChangeAspect="1"/>
          </p:cNvPicPr>
          <p:nvPr/>
        </p:nvPicPr>
        <p:blipFill>
          <a:blip r:embed="rId3"/>
          <a:stretch>
            <a:fillRect/>
          </a:stretch>
        </p:blipFill>
        <p:spPr>
          <a:xfrm>
            <a:off x="3155950" y="1663700"/>
            <a:ext cx="1358900" cy="2841930"/>
          </a:xfrm>
          <a:prstGeom prst="rect">
            <a:avLst/>
          </a:prstGeom>
        </p:spPr>
      </p:pic>
      <p:sp>
        <p:nvSpPr>
          <p:cNvPr id="18" name="TextBox 17"/>
          <p:cNvSpPr txBox="1"/>
          <p:nvPr/>
        </p:nvSpPr>
        <p:spPr>
          <a:xfrm>
            <a:off x="2768600" y="4660900"/>
            <a:ext cx="2133600" cy="190500"/>
          </a:xfrm>
          <a:prstGeom prst="rect">
            <a:avLst/>
          </a:prstGeom>
          <a:noFill/>
        </p:spPr>
        <p:txBody>
          <a:bodyPr wrap="square" lIns="0" rIns="0" tIns="0" bIns="0" anchor="t">
            <a:spAutoFit/>
          </a:bodyPr>
          <a:lstStyle/>
          <a:p>
            <a:pPr algn="l">
              <a:lnSpc>
                <a:spcPct val="115000"/>
              </a:lnSpc>
            </a:pPr>
            <a:r>
              <a:rPr sz="1650" b="1">
                <a:solidFill>
                  <a:srgbClr val="111111"/>
                </a:solidFill>
                <a:latin typeface="Arial"/>
              </a:rPr>
              <a:t>Confirm facts, sharpen goals</a:t>
            </a:r>
          </a:p>
        </p:txBody>
      </p:sp>
      <p:sp>
        <p:nvSpPr>
          <p:cNvPr id="19" name="TextBox 18"/>
          <p:cNvSpPr txBox="1"/>
          <p:nvPr/>
        </p:nvSpPr>
        <p:spPr>
          <a:xfrm>
            <a:off x="2768600" y="4864100"/>
            <a:ext cx="2133600" cy="393700"/>
          </a:xfrm>
          <a:prstGeom prst="rect">
            <a:avLst/>
          </a:prstGeom>
          <a:noFill/>
        </p:spPr>
        <p:txBody>
          <a:bodyPr wrap="square" lIns="0" rIns="0" tIns="0" bIns="0" anchor="t">
            <a:spAutoFit/>
          </a:bodyPr>
          <a:lstStyle/>
          <a:p>
            <a:pPr algn="l">
              <a:lnSpc>
                <a:spcPct val="110000"/>
              </a:lnSpc>
            </a:pPr>
            <a:r>
              <a:rPr sz="1275" b="0">
                <a:solidFill>
                  <a:srgbClr val="4A4A4A"/>
                </a:solidFill>
                <a:latin typeface="Arial"/>
              </a:rPr>
              <a:t>PNC fills in what it knows. Margaret ranks three goals and says what fair means.</a:t>
            </a:r>
          </a:p>
        </p:txBody>
      </p:sp>
      <p:sp>
        <p:nvSpPr>
          <p:cNvPr id="20" name="TextBox 19"/>
          <p:cNvSpPr txBox="1"/>
          <p:nvPr/>
        </p:nvSpPr>
        <p:spPr>
          <a:xfrm>
            <a:off x="2768600" y="5321300"/>
            <a:ext cx="2133600" cy="165100"/>
          </a:xfrm>
          <a:prstGeom prst="rect">
            <a:avLst/>
          </a:prstGeom>
          <a:noFill/>
        </p:spPr>
        <p:txBody>
          <a:bodyPr wrap="square" lIns="0" rIns="0" tIns="0" bIns="0" anchor="t">
            <a:spAutoFit/>
          </a:bodyPr>
          <a:lstStyle/>
          <a:p>
            <a:pPr algn="l">
              <a:lnSpc>
                <a:spcPct val="105000"/>
              </a:lnSpc>
            </a:pPr>
            <a:r>
              <a:rPr sz="1200" b="1">
                <a:solidFill>
                  <a:srgbClr val="0069AA"/>
                </a:solidFill>
                <a:latin typeface="Arial"/>
              </a:rPr>
              <a:t>AI: </a:t>
            </a:r>
            <a:r>
              <a:rPr sz="1200" b="0">
                <a:solidFill>
                  <a:srgbClr val="0069AA"/>
                </a:solidFill>
                <a:latin typeface="Arial"/>
              </a:rPr>
              <a:t>prefills from PNC records.</a:t>
            </a:r>
          </a:p>
        </p:txBody>
      </p:sp>
      <p:sp>
        <p:nvSpPr>
          <p:cNvPr id="21" name="Rounded Rectangle 20"/>
          <p:cNvSpPr/>
          <p:nvPr/>
        </p:nvSpPr>
        <p:spPr>
          <a:xfrm>
            <a:off x="5029200" y="1358900"/>
            <a:ext cx="539750" cy="215900"/>
          </a:xfrm>
          <a:prstGeom prst="roundRect">
            <a:avLst>
              <a:gd name="adj" fmla="val 50000"/>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75" b="1">
                <a:solidFill>
                  <a:srgbClr val="FFFFFF"/>
                </a:solidFill>
                <a:latin typeface="Arial"/>
              </a:rPr>
              <a:t>Align</a:t>
            </a:r>
          </a:p>
        </p:txBody>
      </p:sp>
      <p:pic>
        <p:nvPicPr>
          <p:cNvPr id="22" name="Picture 21" descr="p3_checkin.png"/>
          <p:cNvPicPr>
            <a:picLocks noChangeAspect="1"/>
          </p:cNvPicPr>
          <p:nvPr/>
        </p:nvPicPr>
        <p:blipFill>
          <a:blip r:embed="rId4"/>
          <a:stretch>
            <a:fillRect/>
          </a:stretch>
        </p:blipFill>
        <p:spPr>
          <a:xfrm>
            <a:off x="5416550" y="1663700"/>
            <a:ext cx="1358900" cy="2841930"/>
          </a:xfrm>
          <a:prstGeom prst="rect">
            <a:avLst/>
          </a:prstGeom>
        </p:spPr>
      </p:pic>
      <p:sp>
        <p:nvSpPr>
          <p:cNvPr id="23" name="TextBox 22"/>
          <p:cNvSpPr txBox="1"/>
          <p:nvPr/>
        </p:nvSpPr>
        <p:spPr>
          <a:xfrm>
            <a:off x="5029200" y="4660900"/>
            <a:ext cx="2133600" cy="190500"/>
          </a:xfrm>
          <a:prstGeom prst="rect">
            <a:avLst/>
          </a:prstGeom>
          <a:noFill/>
        </p:spPr>
        <p:txBody>
          <a:bodyPr wrap="square" lIns="0" rIns="0" tIns="0" bIns="0" anchor="t">
            <a:spAutoFit/>
          </a:bodyPr>
          <a:lstStyle/>
          <a:p>
            <a:pPr algn="l">
              <a:lnSpc>
                <a:spcPct val="115000"/>
              </a:lnSpc>
            </a:pPr>
            <a:r>
              <a:rPr sz="1650" b="1">
                <a:solidFill>
                  <a:srgbClr val="111111"/>
                </a:solidFill>
                <a:latin typeface="Arial"/>
              </a:rPr>
              <a:t>Speak in private</a:t>
            </a:r>
          </a:p>
        </p:txBody>
      </p:sp>
      <p:sp>
        <p:nvSpPr>
          <p:cNvPr id="24" name="TextBox 23"/>
          <p:cNvSpPr txBox="1"/>
          <p:nvPr/>
        </p:nvSpPr>
        <p:spPr>
          <a:xfrm>
            <a:off x="5029200" y="4864100"/>
            <a:ext cx="2133600" cy="393700"/>
          </a:xfrm>
          <a:prstGeom prst="rect">
            <a:avLst/>
          </a:prstGeom>
          <a:noFill/>
        </p:spPr>
        <p:txBody>
          <a:bodyPr wrap="square" lIns="0" rIns="0" tIns="0" bIns="0" anchor="t">
            <a:spAutoFit/>
          </a:bodyPr>
          <a:lstStyle/>
          <a:p>
            <a:pPr algn="l">
              <a:lnSpc>
                <a:spcPct val="110000"/>
              </a:lnSpc>
            </a:pPr>
            <a:r>
              <a:rPr sz="1275" b="0">
                <a:solidFill>
                  <a:srgbClr val="4A4A4A"/>
                </a:solidFill>
                <a:latin typeface="Arial"/>
              </a:rPr>
              <a:t>Claire writes what she's never said, then chooses what Alex may read.</a:t>
            </a:r>
          </a:p>
        </p:txBody>
      </p:sp>
      <p:sp>
        <p:nvSpPr>
          <p:cNvPr id="25" name="TextBox 24"/>
          <p:cNvSpPr txBox="1"/>
          <p:nvPr/>
        </p:nvSpPr>
        <p:spPr>
          <a:xfrm>
            <a:off x="5029200" y="5321300"/>
            <a:ext cx="2133600" cy="165100"/>
          </a:xfrm>
          <a:prstGeom prst="rect">
            <a:avLst/>
          </a:prstGeom>
          <a:noFill/>
        </p:spPr>
        <p:txBody>
          <a:bodyPr wrap="square" lIns="0" rIns="0" tIns="0" bIns="0" anchor="t">
            <a:spAutoFit/>
          </a:bodyPr>
          <a:lstStyle/>
          <a:p>
            <a:pPr algn="l">
              <a:lnSpc>
                <a:spcPct val="105000"/>
              </a:lnSpc>
            </a:pPr>
            <a:r>
              <a:rPr sz="1200" b="1">
                <a:solidFill>
                  <a:srgbClr val="0069AA"/>
                </a:solidFill>
                <a:latin typeface="Arial"/>
              </a:rPr>
              <a:t>AI: </a:t>
            </a:r>
            <a:r>
              <a:rPr sz="1200" b="0">
                <a:solidFill>
                  <a:srgbClr val="0069AA"/>
                </a:solidFill>
                <a:latin typeface="Arial"/>
              </a:rPr>
              <a:t>NLP tags themes in her own vault.</a:t>
            </a:r>
          </a:p>
        </p:txBody>
      </p:sp>
      <p:sp>
        <p:nvSpPr>
          <p:cNvPr id="26" name="Rounded Rectangle 25"/>
          <p:cNvSpPr/>
          <p:nvPr/>
        </p:nvSpPr>
        <p:spPr>
          <a:xfrm>
            <a:off x="7289800" y="1358900"/>
            <a:ext cx="723900" cy="215900"/>
          </a:xfrm>
          <a:prstGeom prst="roundRect">
            <a:avLst>
              <a:gd name="adj" fmla="val 50000"/>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75" b="1">
                <a:solidFill>
                  <a:srgbClr val="FFFFFF"/>
                </a:solidFill>
                <a:latin typeface="Arial"/>
              </a:rPr>
              <a:t>Allocate</a:t>
            </a:r>
          </a:p>
        </p:txBody>
      </p:sp>
      <p:pic>
        <p:nvPicPr>
          <p:cNvPr id="27" name="Picture 26" descr="p4_decide.png"/>
          <p:cNvPicPr>
            <a:picLocks noChangeAspect="1"/>
          </p:cNvPicPr>
          <p:nvPr/>
        </p:nvPicPr>
        <p:blipFill>
          <a:blip r:embed="rId5"/>
          <a:stretch>
            <a:fillRect/>
          </a:stretch>
        </p:blipFill>
        <p:spPr>
          <a:xfrm>
            <a:off x="7677150" y="1663700"/>
            <a:ext cx="1358900" cy="2841930"/>
          </a:xfrm>
          <a:prstGeom prst="rect">
            <a:avLst/>
          </a:prstGeom>
        </p:spPr>
      </p:pic>
      <p:sp>
        <p:nvSpPr>
          <p:cNvPr id="28" name="TextBox 27"/>
          <p:cNvSpPr txBox="1"/>
          <p:nvPr/>
        </p:nvSpPr>
        <p:spPr>
          <a:xfrm>
            <a:off x="7289800" y="4660900"/>
            <a:ext cx="2133600" cy="190500"/>
          </a:xfrm>
          <a:prstGeom prst="rect">
            <a:avLst/>
          </a:prstGeom>
          <a:noFill/>
        </p:spPr>
        <p:txBody>
          <a:bodyPr wrap="square" lIns="0" rIns="0" tIns="0" bIns="0" anchor="t">
            <a:spAutoFit/>
          </a:bodyPr>
          <a:lstStyle/>
          <a:p>
            <a:pPr algn="l">
              <a:lnSpc>
                <a:spcPct val="115000"/>
              </a:lnSpc>
            </a:pPr>
            <a:r>
              <a:rPr sz="1650" b="1">
                <a:solidFill>
                  <a:srgbClr val="111111"/>
                </a:solidFill>
                <a:latin typeface="Arial"/>
              </a:rPr>
              <a:t>Vote, then 12 plans to 1</a:t>
            </a:r>
          </a:p>
        </p:txBody>
      </p:sp>
      <p:sp>
        <p:nvSpPr>
          <p:cNvPr id="29" name="TextBox 28"/>
          <p:cNvSpPr txBox="1"/>
          <p:nvPr/>
        </p:nvSpPr>
        <p:spPr>
          <a:xfrm>
            <a:off x="7289800" y="4864100"/>
            <a:ext cx="2133600" cy="393700"/>
          </a:xfrm>
          <a:prstGeom prst="rect">
            <a:avLst/>
          </a:prstGeom>
          <a:noFill/>
        </p:spPr>
        <p:txBody>
          <a:bodyPr wrap="square" lIns="0" rIns="0" tIns="0" bIns="0" anchor="t">
            <a:spAutoFit/>
          </a:bodyPr>
          <a:lstStyle/>
          <a:p>
            <a:pPr algn="l">
              <a:lnSpc>
                <a:spcPct val="110000"/>
              </a:lnSpc>
            </a:pPr>
            <a:r>
              <a:rPr sz="1275" b="0">
                <a:solidFill>
                  <a:srgbClr val="4A4A4A"/>
                </a:solidFill>
                <a:latin typeface="Arial"/>
              </a:rPr>
              <a:t>Each child's number under every split, a private vote, and a decision tree.</a:t>
            </a:r>
          </a:p>
        </p:txBody>
      </p:sp>
      <p:sp>
        <p:nvSpPr>
          <p:cNvPr id="30" name="TextBox 29"/>
          <p:cNvSpPr txBox="1"/>
          <p:nvPr/>
        </p:nvSpPr>
        <p:spPr>
          <a:xfrm>
            <a:off x="7289800" y="5321300"/>
            <a:ext cx="2133600" cy="165100"/>
          </a:xfrm>
          <a:prstGeom prst="rect">
            <a:avLst/>
          </a:prstGeom>
          <a:noFill/>
        </p:spPr>
        <p:txBody>
          <a:bodyPr wrap="square" lIns="0" rIns="0" tIns="0" bIns="0" anchor="t">
            <a:spAutoFit/>
          </a:bodyPr>
          <a:lstStyle/>
          <a:p>
            <a:pPr algn="l">
              <a:lnSpc>
                <a:spcPct val="105000"/>
              </a:lnSpc>
            </a:pPr>
            <a:r>
              <a:rPr sz="1200" b="1">
                <a:solidFill>
                  <a:srgbClr val="0069AA"/>
                </a:solidFill>
                <a:latin typeface="Arial"/>
              </a:rPr>
              <a:t>AI: </a:t>
            </a:r>
            <a:r>
              <a:rPr sz="1200" b="0">
                <a:solidFill>
                  <a:srgbClr val="0069AA"/>
                </a:solidFill>
                <a:latin typeface="Arial"/>
              </a:rPr>
              <a:t>explains; formulas do every number.</a:t>
            </a:r>
          </a:p>
        </p:txBody>
      </p:sp>
      <p:sp>
        <p:nvSpPr>
          <p:cNvPr id="31" name="Rounded Rectangle 30"/>
          <p:cNvSpPr/>
          <p:nvPr/>
        </p:nvSpPr>
        <p:spPr>
          <a:xfrm>
            <a:off x="9550400" y="1358900"/>
            <a:ext cx="723900" cy="215900"/>
          </a:xfrm>
          <a:prstGeom prst="roundRect">
            <a:avLst>
              <a:gd name="adj" fmla="val 50000"/>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75" b="1">
                <a:solidFill>
                  <a:srgbClr val="FFFFFF"/>
                </a:solidFill>
                <a:latin typeface="Arial"/>
              </a:rPr>
              <a:t>Activate</a:t>
            </a:r>
          </a:p>
        </p:txBody>
      </p:sp>
      <p:pic>
        <p:nvPicPr>
          <p:cNvPr id="32" name="Picture 31" descr="p5_ask.png"/>
          <p:cNvPicPr>
            <a:picLocks noChangeAspect="1"/>
          </p:cNvPicPr>
          <p:nvPr/>
        </p:nvPicPr>
        <p:blipFill>
          <a:blip r:embed="rId6"/>
          <a:stretch>
            <a:fillRect/>
          </a:stretch>
        </p:blipFill>
        <p:spPr>
          <a:xfrm>
            <a:off x="9937750" y="1663700"/>
            <a:ext cx="1358900" cy="2841930"/>
          </a:xfrm>
          <a:prstGeom prst="rect">
            <a:avLst/>
          </a:prstGeom>
        </p:spPr>
      </p:pic>
      <p:sp>
        <p:nvSpPr>
          <p:cNvPr id="33" name="TextBox 32"/>
          <p:cNvSpPr txBox="1"/>
          <p:nvPr/>
        </p:nvSpPr>
        <p:spPr>
          <a:xfrm>
            <a:off x="9550400" y="4660900"/>
            <a:ext cx="2133600" cy="190500"/>
          </a:xfrm>
          <a:prstGeom prst="rect">
            <a:avLst/>
          </a:prstGeom>
          <a:noFill/>
        </p:spPr>
        <p:txBody>
          <a:bodyPr wrap="square" lIns="0" rIns="0" tIns="0" bIns="0" anchor="t">
            <a:spAutoFit/>
          </a:bodyPr>
          <a:lstStyle/>
          <a:p>
            <a:pPr algn="l">
              <a:lnSpc>
                <a:spcPct val="115000"/>
              </a:lnSpc>
            </a:pPr>
            <a:r>
              <a:rPr sz="1650" b="1">
                <a:solidFill>
                  <a:srgbClr val="111111"/>
                </a:solidFill>
                <a:latin typeface="Arial"/>
              </a:rPr>
              <a:t>Ask a person, not a bot</a:t>
            </a:r>
          </a:p>
        </p:txBody>
      </p:sp>
      <p:sp>
        <p:nvSpPr>
          <p:cNvPr id="34" name="TextBox 33"/>
          <p:cNvSpPr txBox="1"/>
          <p:nvPr/>
        </p:nvSpPr>
        <p:spPr>
          <a:xfrm>
            <a:off x="9550400" y="4864100"/>
            <a:ext cx="2133600" cy="393700"/>
          </a:xfrm>
          <a:prstGeom prst="rect">
            <a:avLst/>
          </a:prstGeom>
          <a:noFill/>
        </p:spPr>
        <p:txBody>
          <a:bodyPr wrap="square" lIns="0" rIns="0" tIns="0" bIns="0" anchor="t">
            <a:spAutoFit/>
          </a:bodyPr>
          <a:lstStyle/>
          <a:p>
            <a:pPr algn="l">
              <a:lnSpc>
                <a:spcPct val="110000"/>
              </a:lnSpc>
            </a:pPr>
            <a:r>
              <a:rPr sz="1275" b="0">
                <a:solidFill>
                  <a:srgbClr val="4A4A4A"/>
                </a:solidFill>
                <a:latin typeface="Arial"/>
              </a:rPr>
              <a:t>Questions go to Alex. The reply carries its numbers; a call is one tap away.</a:t>
            </a:r>
          </a:p>
        </p:txBody>
      </p:sp>
      <p:sp>
        <p:nvSpPr>
          <p:cNvPr id="35" name="TextBox 34"/>
          <p:cNvSpPr txBox="1"/>
          <p:nvPr/>
        </p:nvSpPr>
        <p:spPr>
          <a:xfrm>
            <a:off x="9550400" y="5321300"/>
            <a:ext cx="2133600" cy="165100"/>
          </a:xfrm>
          <a:prstGeom prst="rect">
            <a:avLst/>
          </a:prstGeom>
          <a:noFill/>
        </p:spPr>
        <p:txBody>
          <a:bodyPr wrap="square" lIns="0" rIns="0" tIns="0" bIns="0" anchor="t">
            <a:spAutoFit/>
          </a:bodyPr>
          <a:lstStyle/>
          <a:p>
            <a:pPr algn="l">
              <a:lnSpc>
                <a:spcPct val="105000"/>
              </a:lnSpc>
            </a:pPr>
            <a:r>
              <a:rPr sz="1200" b="1">
                <a:solidFill>
                  <a:srgbClr val="0069AA"/>
                </a:solidFill>
                <a:latin typeface="Arial"/>
              </a:rPr>
              <a:t>AI: </a:t>
            </a:r>
            <a:r>
              <a:rPr sz="1200" b="0">
                <a:solidFill>
                  <a:srgbClr val="0069AA"/>
                </a:solidFill>
                <a:latin typeface="Arial"/>
              </a:rPr>
              <a:t>drafts; Alex checks before it's sent.</a:t>
            </a:r>
          </a:p>
        </p:txBody>
      </p:sp>
      <p:sp>
        <p:nvSpPr>
          <p:cNvPr id="36" name="Rectangle 35"/>
          <p:cNvSpPr/>
          <p:nvPr/>
        </p:nvSpPr>
        <p:spPr>
          <a:xfrm>
            <a:off x="0" y="5588000"/>
            <a:ext cx="12192000" cy="749300"/>
          </a:xfrm>
          <a:prstGeom prst="rect">
            <a:avLst/>
          </a:prstGeom>
          <a:solidFill>
            <a:srgbClr val="FFB4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08000" y="5588000"/>
            <a:ext cx="2032000" cy="749300"/>
          </a:xfrm>
          <a:prstGeom prst="rect">
            <a:avLst/>
          </a:prstGeom>
          <a:noFill/>
        </p:spPr>
        <p:txBody>
          <a:bodyPr wrap="square" lIns="0" rIns="0" tIns="0" bIns="0" anchor="ctr">
            <a:spAutoFit/>
          </a:bodyPr>
          <a:lstStyle/>
          <a:p>
            <a:pPr algn="l">
              <a:lnSpc>
                <a:spcPct val="100000"/>
              </a:lnSpc>
            </a:pPr>
            <a:r>
              <a:rPr sz="1800" b="1">
                <a:solidFill>
                  <a:srgbClr val="111111"/>
                </a:solidFill>
                <a:latin typeface="Arial"/>
              </a:rPr>
              <a:t>WHAT THE FAMILY GETS</a:t>
            </a:r>
          </a:p>
        </p:txBody>
      </p:sp>
      <p:sp>
        <p:nvSpPr>
          <p:cNvPr id="38" name="TextBox 37"/>
          <p:cNvSpPr txBox="1"/>
          <p:nvPr/>
        </p:nvSpPr>
        <p:spPr>
          <a:xfrm>
            <a:off x="2540000" y="5588000"/>
            <a:ext cx="9144000" cy="749300"/>
          </a:xfrm>
          <a:prstGeom prst="rect">
            <a:avLst/>
          </a:prstGeom>
          <a:noFill/>
        </p:spPr>
        <p:txBody>
          <a:bodyPr wrap="square" lIns="0" rIns="0" tIns="0" bIns="0" anchor="ctr">
            <a:spAutoFit/>
          </a:bodyPr>
          <a:lstStyle/>
          <a:p>
            <a:pPr algn="l">
              <a:lnSpc>
                <a:spcPct val="115000"/>
              </a:lnSpc>
            </a:pPr>
            <a:r>
              <a:rPr sz="1575" b="1">
                <a:solidFill>
                  <a:srgbClr val="111111"/>
                </a:solidFill>
                <a:latin typeface="Arial"/>
              </a:rPr>
              <a:t>Clarity: </a:t>
            </a:r>
            <a:r>
              <a:rPr sz="1575" b="0">
                <a:solidFill>
                  <a:srgbClr val="111111"/>
                </a:solidFill>
                <a:latin typeface="Arial"/>
              </a:rPr>
              <a:t>their own number, not a guess.   </a:t>
            </a:r>
            <a:r>
              <a:rPr sz="1575" b="1">
                <a:solidFill>
                  <a:srgbClr val="111111"/>
                </a:solidFill>
                <a:latin typeface="Arial"/>
              </a:rPr>
              <a:t>Fairness: </a:t>
            </a:r>
            <a:r>
              <a:rPr sz="1575" b="0">
                <a:solidFill>
                  <a:srgbClr val="111111"/>
                </a:solidFill>
                <a:latin typeface="Arial"/>
              </a:rPr>
              <a:t>a private voice, without a fight at dinner.   </a:t>
            </a:r>
            <a:r>
              <a:rPr sz="1575" b="1">
                <a:solidFill>
                  <a:srgbClr val="111111"/>
                </a:solidFill>
                <a:latin typeface="Arial"/>
              </a:rPr>
              <a:t>Confidence: </a:t>
            </a:r>
            <a:r>
              <a:rPr sz="1575" b="0">
                <a:solidFill>
                  <a:srgbClr val="111111"/>
                </a:solidFill>
                <a:latin typeface="Arial"/>
              </a:rPr>
              <a:t>every answer is checked by a person before it reaches them.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3DE"/>
        </a:solidFill>
        <a:effectLst/>
      </p:bgPr>
    </p:bg>
    <p:spTree>
      <p:nvGrpSpPr>
        <p:cNvPr id="1" name=""/>
        <p:cNvGrpSpPr/>
        <p:nvPr/>
      </p:nvGrpSpPr>
      <p:grpSpPr/>
      <p:sp>
        <p:nvSpPr>
          <p:cNvPr id="2" name="Rectangle 1"/>
          <p:cNvSpPr/>
          <p:nvPr/>
        </p:nvSpPr>
        <p:spPr>
          <a:xfrm>
            <a:off x="11379200" y="0"/>
            <a:ext cx="406400" cy="406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10972800" y="406400"/>
            <a:ext cx="406400" cy="406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785600" y="406400"/>
            <a:ext cx="406400" cy="406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8000" y="342900"/>
            <a:ext cx="9906000" cy="444500"/>
          </a:xfrm>
          <a:prstGeom prst="rect">
            <a:avLst/>
          </a:prstGeom>
          <a:noFill/>
        </p:spPr>
        <p:txBody>
          <a:bodyPr wrap="square" lIns="0" rIns="0" tIns="0" bIns="0" anchor="t">
            <a:spAutoFit/>
          </a:bodyPr>
          <a:lstStyle/>
          <a:p>
            <a:pPr algn="l">
              <a:lnSpc>
                <a:spcPct val="115000"/>
              </a:lnSpc>
            </a:pPr>
            <a:r>
              <a:rPr sz="4200" b="1">
                <a:solidFill>
                  <a:srgbClr val="111111"/>
                </a:solidFill>
                <a:latin typeface="Arial"/>
              </a:rPr>
              <a:t>AI Advisor Workbench</a:t>
            </a:r>
          </a:p>
        </p:txBody>
      </p:sp>
      <p:sp>
        <p:nvSpPr>
          <p:cNvPr id="6" name="TextBox 5"/>
          <p:cNvSpPr txBox="1"/>
          <p:nvPr/>
        </p:nvSpPr>
        <p:spPr>
          <a:xfrm>
            <a:off x="508000" y="863600"/>
            <a:ext cx="9906000" cy="254000"/>
          </a:xfrm>
          <a:prstGeom prst="rect">
            <a:avLst/>
          </a:prstGeom>
          <a:noFill/>
        </p:spPr>
        <p:txBody>
          <a:bodyPr wrap="square" lIns="0" rIns="0" tIns="0" bIns="0" anchor="t">
            <a:spAutoFit/>
          </a:bodyPr>
          <a:lstStyle/>
          <a:p>
            <a:pPr algn="l">
              <a:lnSpc>
                <a:spcPct val="115000"/>
              </a:lnSpc>
            </a:pPr>
            <a:r>
              <a:rPr sz="1800" b="0">
                <a:solidFill>
                  <a:srgbClr val="4A4A4A"/>
                </a:solidFill>
                <a:latin typeface="Arial"/>
              </a:rPr>
              <a:t>Alex sees the sale a year early, then AI does the reading in each core stage and Alex makes every call</a:t>
            </a:r>
          </a:p>
        </p:txBody>
      </p:sp>
      <p:sp>
        <p:nvSpPr>
          <p:cNvPr id="7" name="Rectangle 6"/>
          <p:cNvSpPr/>
          <p:nvPr/>
        </p:nvSpPr>
        <p:spPr>
          <a:xfrm>
            <a:off x="508000" y="1181100"/>
            <a:ext cx="3556000" cy="25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8000" y="6527800"/>
            <a:ext cx="11176000" cy="190500"/>
          </a:xfrm>
          <a:prstGeom prst="rect">
            <a:avLst/>
          </a:prstGeom>
          <a:noFill/>
        </p:spPr>
        <p:txBody>
          <a:bodyPr wrap="square" lIns="0" rIns="0" tIns="0" bIns="0" anchor="t">
            <a:spAutoFit/>
          </a:bodyPr>
          <a:lstStyle/>
          <a:p>
            <a:pPr algn="l">
              <a:lnSpc>
                <a:spcPct val="115000"/>
              </a:lnSpc>
            </a:pPr>
            <a:r>
              <a:rPr sz="1200" b="0">
                <a:solidFill>
                  <a:srgbClr val="4A4A4A"/>
                </a:solidFill>
                <a:latin typeface="Arial"/>
              </a:rPr>
              <a:t>Source: Family Table prototype. Scores, family data and figures are fictional; the signal model is a hypothesis to validate on PNC data.</a:t>
            </a:r>
          </a:p>
        </p:txBody>
      </p:sp>
      <p:graphicFrame>
        <p:nvGraphicFramePr>
          <p:cNvPr id="9" name="Table 8"/>
          <p:cNvGraphicFramePr>
            <a:graphicFrameLocks noGrp="1"/>
          </p:cNvGraphicFramePr>
          <p:nvPr/>
        </p:nvGraphicFramePr>
        <p:xfrm>
          <a:off x="508000" y="1358900"/>
          <a:ext cx="7112000" cy="3492500"/>
        </p:xfrm>
        <a:graphic>
          <a:graphicData uri="http://schemas.openxmlformats.org/drawingml/2006/table">
            <a:tbl>
              <a:tblPr firstRow="1" bandRow="1">
                <a:tableStyleId>{5C22544A-7EE6-4342-B048-85BDC9FD1C3A}</a:tableStyleId>
              </a:tblPr>
              <a:tblGrid>
                <a:gridCol w="889000"/>
                <a:gridCol w="1270000"/>
                <a:gridCol w="2730500"/>
                <a:gridCol w="2222500"/>
              </a:tblGrid>
              <a:tr h="342900">
                <a:tc>
                  <a:txBody>
                    <a:bodyPr wrap="square" lIns="0" rIns="0" tIns="0" bIns="0" anchor="ctr"/>
                    <a:lstStyle/>
                    <a:p>
                      <a:pPr algn="ctr">
                        <a:lnSpc>
                          <a:spcPct val="115000"/>
                        </a:lnSpc>
                      </a:pPr>
                      <a:r>
                        <a:rPr sz="1425" b="1">
                          <a:solidFill>
                            <a:srgbClr val="FFFFFF"/>
                          </a:solidFill>
                          <a:latin typeface="Arial"/>
                        </a:rPr>
                        <a:t>Stage</a:t>
                      </a:r>
                    </a:p>
                  </a:txBody>
                  <a:tcPr>
                    <a:solidFill>
                      <a:srgbClr val="344C5F"/>
                    </a:solidFill>
                  </a:tcPr>
                </a:tc>
                <a:tc>
                  <a:txBody>
                    <a:bodyPr wrap="square" lIns="0" rIns="0" tIns="0" bIns="0" anchor="ctr"/>
                    <a:lstStyle/>
                    <a:p>
                      <a:pPr algn="ctr">
                        <a:lnSpc>
                          <a:spcPct val="115000"/>
                        </a:lnSpc>
                      </a:pPr>
                      <a:r>
                        <a:rPr sz="1425" b="1">
                          <a:solidFill>
                            <a:srgbClr val="FFFFFF"/>
                          </a:solidFill>
                          <a:latin typeface="Arial"/>
                        </a:rPr>
                        <a:t>AI tool</a:t>
                      </a:r>
                    </a:p>
                  </a:txBody>
                  <a:tcPr>
                    <a:solidFill>
                      <a:srgbClr val="344C5F"/>
                    </a:solidFill>
                  </a:tcPr>
                </a:tc>
                <a:tc>
                  <a:txBody>
                    <a:bodyPr wrap="square" lIns="0" rIns="0" tIns="0" bIns="0" anchor="ctr"/>
                    <a:lstStyle/>
                    <a:p>
                      <a:pPr algn="ctr">
                        <a:lnSpc>
                          <a:spcPct val="115000"/>
                        </a:lnSpc>
                      </a:pPr>
                      <a:r>
                        <a:rPr sz="1425" b="1">
                          <a:solidFill>
                            <a:srgbClr val="FFFFFF"/>
                          </a:solidFill>
                          <a:latin typeface="Arial"/>
                        </a:rPr>
                        <a:t>What the AI does</a:t>
                      </a:r>
                    </a:p>
                  </a:txBody>
                  <a:tcPr>
                    <a:solidFill>
                      <a:srgbClr val="344C5F"/>
                    </a:solidFill>
                  </a:tcPr>
                </a:tc>
                <a:tc>
                  <a:txBody>
                    <a:bodyPr wrap="square" lIns="0" rIns="0" tIns="0" bIns="0" anchor="ctr"/>
                    <a:lstStyle/>
                    <a:p>
                      <a:pPr algn="ctr">
                        <a:lnSpc>
                          <a:spcPct val="115000"/>
                        </a:lnSpc>
                      </a:pPr>
                      <a:r>
                        <a:rPr sz="1425" b="1">
                          <a:solidFill>
                            <a:srgbClr val="FFFFFF"/>
                          </a:solidFill>
                          <a:latin typeface="Arial"/>
                        </a:rPr>
                        <a:t>What Alex decides</a:t>
                      </a:r>
                    </a:p>
                  </a:txBody>
                  <a:tcPr>
                    <a:solidFill>
                      <a:srgbClr val="344C5F"/>
                    </a:solidFill>
                  </a:tcPr>
                </a:tc>
              </a:tr>
              <a:tr h="787400">
                <a:tc>
                  <a:txBody>
                    <a:bodyPr wrap="square" lIns="0" rIns="0" tIns="0" bIns="0" anchor="ctr"/>
                    <a:lstStyle/>
                    <a:p>
                      <a:pPr algn="ctr">
                        <a:lnSpc>
                          <a:spcPct val="115000"/>
                        </a:lnSpc>
                      </a:pPr>
                      <a:r>
                        <a:rPr sz="1500" b="1">
                          <a:solidFill>
                            <a:srgbClr val="344C5F"/>
                          </a:solidFill>
                          <a:latin typeface="Arial"/>
                        </a:rPr>
                        <a:t>Explore</a:t>
                      </a:r>
                    </a:p>
                  </a:txBody>
                  <a:tcPr marL="88900" marR="88900" marT="50800" marB="50800">
                    <a:solidFill>
                      <a:srgbClr val="EADCC4"/>
                    </a:solidFill>
                  </a:tcPr>
                </a:tc>
                <a:tc>
                  <a:txBody>
                    <a:bodyPr wrap="square" lIns="0" rIns="0" tIns="0" bIns="0" anchor="ctr"/>
                    <a:lstStyle/>
                    <a:p>
                      <a:pPr algn="l">
                        <a:lnSpc>
                          <a:spcPct val="108000"/>
                        </a:lnSpc>
                      </a:pPr>
                      <a:r>
                        <a:rPr sz="1425" b="1">
                          <a:solidFill>
                            <a:srgbClr val="111111"/>
                          </a:solidFill>
                          <a:latin typeface="Arial"/>
                        </a:rPr>
                        <a:t>Sale signal</a:t>
                      </a:r>
                    </a:p>
                  </a:txBody>
                  <a:tcPr marL="88900" marR="88900" marT="50800" marB="50800">
                    <a:solidFill>
                      <a:srgbClr val="FFFAF1"/>
                    </a:solidFill>
                  </a:tcPr>
                </a:tc>
                <a:tc>
                  <a:txBody>
                    <a:bodyPr wrap="square" lIns="0" rIns="0" tIns="0" bIns="0" anchor="ctr"/>
                    <a:lstStyle/>
                    <a:p>
                      <a:pPr algn="l">
                        <a:lnSpc>
                          <a:spcPct val="108000"/>
                        </a:lnSpc>
                      </a:pPr>
                      <a:r>
                        <a:rPr sz="1275" b="0">
                          <a:solidFill>
                            <a:srgbClr val="4A4A4A"/>
                          </a:solidFill>
                          <a:latin typeface="Arial"/>
                        </a:rPr>
                        <a:t>Machine learning scores business-account activity: 81 out of 100, 12–18 months before closing, with its reasons.</a:t>
                      </a:r>
                    </a:p>
                  </a:txBody>
                  <a:tcPr marL="88900" marR="88900" marT="50800" marB="50800">
                    <a:solidFill>
                      <a:srgbClr val="FFFAF1"/>
                    </a:solidFill>
                  </a:tcPr>
                </a:tc>
                <a:tc>
                  <a:txBody>
                    <a:bodyPr wrap="square" lIns="0" rIns="0" tIns="0" bIns="0" anchor="ctr"/>
                    <a:lstStyle/>
                    <a:p>
                      <a:pPr algn="l">
                        <a:lnSpc>
                          <a:spcPct val="108000"/>
                        </a:lnSpc>
                      </a:pPr>
                      <a:r>
                        <a:rPr sz="1275" b="0">
                          <a:solidFill>
                            <a:srgbClr val="111111"/>
                          </a:solidFill>
                          <a:latin typeface="Arial"/>
                        </a:rPr>
                        <a:t>Whether and when to call Margaret.</a:t>
                      </a:r>
                    </a:p>
                  </a:txBody>
                  <a:tcPr marL="88900" marR="88900" marT="50800" marB="50800">
                    <a:solidFill>
                      <a:srgbClr val="FFFAF1"/>
                    </a:solidFill>
                  </a:tcPr>
                </a:tc>
              </a:tr>
              <a:tr h="787400">
                <a:tc>
                  <a:txBody>
                    <a:bodyPr wrap="square" lIns="0" rIns="0" tIns="0" bIns="0" anchor="ctr"/>
                    <a:lstStyle/>
                    <a:p>
                      <a:pPr algn="ctr">
                        <a:lnSpc>
                          <a:spcPct val="115000"/>
                        </a:lnSpc>
                      </a:pPr>
                      <a:r>
                        <a:rPr sz="1500" b="1">
                          <a:solidFill>
                            <a:srgbClr val="FFFFFF"/>
                          </a:solidFill>
                          <a:latin typeface="Arial"/>
                        </a:rPr>
                        <a:t>Align</a:t>
                      </a:r>
                    </a:p>
                  </a:txBody>
                  <a:tcPr marL="88900" marR="88900" marT="50800" marB="50800">
                    <a:solidFill>
                      <a:srgbClr val="FF6A33"/>
                    </a:solidFill>
                  </a:tcPr>
                </a:tc>
                <a:tc>
                  <a:txBody>
                    <a:bodyPr wrap="square" lIns="0" rIns="0" tIns="0" bIns="0" anchor="ctr"/>
                    <a:lstStyle/>
                    <a:p>
                      <a:pPr algn="l">
                        <a:lnSpc>
                          <a:spcPct val="108000"/>
                        </a:lnSpc>
                      </a:pPr>
                      <a:r>
                        <a:rPr sz="1425" b="1">
                          <a:solidFill>
                            <a:srgbClr val="111111"/>
                          </a:solidFill>
                          <a:latin typeface="Arial"/>
                        </a:rPr>
                        <a:t>Family brief</a:t>
                      </a:r>
                    </a:p>
                  </a:txBody>
                  <a:tcPr marL="88900" marR="88900" marT="50800" marB="50800">
                    <a:solidFill>
                      <a:srgbClr val="FFF3DE"/>
                    </a:solidFill>
                  </a:tcPr>
                </a:tc>
                <a:tc>
                  <a:txBody>
                    <a:bodyPr wrap="square" lIns="0" rIns="0" tIns="0" bIns="0" anchor="ctr"/>
                    <a:lstStyle/>
                    <a:p>
                      <a:pPr algn="l">
                        <a:lnSpc>
                          <a:spcPct val="108000"/>
                        </a:lnSpc>
                      </a:pPr>
                      <a:r>
                        <a:rPr sz="1275" b="0">
                          <a:solidFill>
                            <a:srgbClr val="4A4A4A"/>
                          </a:solidFill>
                          <a:latin typeface="Arial"/>
                        </a:rPr>
                        <a:t>NLP turns four private check-ins into themes; a fixed formula scores the gaps (fairness 1.00); Document AI flags the 2012 will.</a:t>
                      </a:r>
                    </a:p>
                  </a:txBody>
                  <a:tcPr marL="88900" marR="88900" marT="50800" marB="50800">
                    <a:solidFill>
                      <a:srgbClr val="FFF3DE"/>
                    </a:solidFill>
                  </a:tcPr>
                </a:tc>
                <a:tc>
                  <a:txBody>
                    <a:bodyPr wrap="square" lIns="0" rIns="0" tIns="0" bIns="0" anchor="ctr"/>
                    <a:lstStyle/>
                    <a:p>
                      <a:pPr algn="l">
                        <a:lnSpc>
                          <a:spcPct val="108000"/>
                        </a:lnSpc>
                      </a:pPr>
                      <a:r>
                        <a:rPr sz="1275" b="0">
                          <a:solidFill>
                            <a:srgbClr val="111111"/>
                          </a:solidFill>
                          <a:latin typeface="Arial"/>
                        </a:rPr>
                        <a:t>Approves the brief. Books a Hawthorn facilitator when a gap passes 0.75.</a:t>
                      </a:r>
                    </a:p>
                  </a:txBody>
                  <a:tcPr marL="88900" marR="88900" marT="50800" marB="50800">
                    <a:solidFill>
                      <a:srgbClr val="FFF3DE"/>
                    </a:solidFill>
                  </a:tcPr>
                </a:tc>
              </a:tr>
              <a:tr h="787400">
                <a:tc>
                  <a:txBody>
                    <a:bodyPr wrap="square" lIns="0" rIns="0" tIns="0" bIns="0" anchor="ctr"/>
                    <a:lstStyle/>
                    <a:p>
                      <a:pPr algn="ctr">
                        <a:lnSpc>
                          <a:spcPct val="115000"/>
                        </a:lnSpc>
                      </a:pPr>
                      <a:r>
                        <a:rPr sz="1500" b="1">
                          <a:solidFill>
                            <a:srgbClr val="FFFFFF"/>
                          </a:solidFill>
                          <a:latin typeface="Arial"/>
                        </a:rPr>
                        <a:t>Allocate</a:t>
                      </a:r>
                    </a:p>
                  </a:txBody>
                  <a:tcPr marL="88900" marR="88900" marT="50800" marB="50800">
                    <a:solidFill>
                      <a:srgbClr val="FF6A33"/>
                    </a:solidFill>
                  </a:tcPr>
                </a:tc>
                <a:tc>
                  <a:txBody>
                    <a:bodyPr wrap="square" lIns="0" rIns="0" tIns="0" bIns="0" anchor="ctr"/>
                    <a:lstStyle/>
                    <a:p>
                      <a:pPr algn="l">
                        <a:lnSpc>
                          <a:spcPct val="108000"/>
                        </a:lnSpc>
                      </a:pPr>
                      <a:r>
                        <a:rPr sz="1425" b="1">
                          <a:solidFill>
                            <a:srgbClr val="111111"/>
                          </a:solidFill>
                          <a:latin typeface="Arial"/>
                        </a:rPr>
                        <a:t>Meeting guide and options</a:t>
                      </a:r>
                    </a:p>
                  </a:txBody>
                  <a:tcPr marL="88900" marR="88900" marT="50800" marB="50800">
                    <a:solidFill>
                      <a:srgbClr val="FFFAF1"/>
                    </a:solidFill>
                  </a:tcPr>
                </a:tc>
                <a:tc>
                  <a:txBody>
                    <a:bodyPr wrap="square" lIns="0" rIns="0" tIns="0" bIns="0" anchor="ctr"/>
                    <a:lstStyle/>
                    <a:p>
                      <a:pPr algn="l">
                        <a:lnSpc>
                          <a:spcPct val="108000"/>
                        </a:lnSpc>
                      </a:pPr>
                      <a:r>
                        <a:rPr sz="1275" b="0">
                          <a:solidFill>
                            <a:srgbClr val="4A4A4A"/>
                          </a:solidFill>
                          <a:latin typeface="Arial"/>
                        </a:rPr>
                        <a:t>Turns the brief into a 90-minute run of show and five presenting screens; explains each split, every number from the calculator.</a:t>
                      </a:r>
                    </a:p>
                  </a:txBody>
                  <a:tcPr marL="88900" marR="88900" marT="50800" marB="50800">
                    <a:solidFill>
                      <a:srgbClr val="FFFAF1"/>
                    </a:solidFill>
                  </a:tcPr>
                </a:tc>
                <a:tc>
                  <a:txBody>
                    <a:bodyPr wrap="square" lIns="0" rIns="0" tIns="0" bIns="0" anchor="ctr"/>
                    <a:lstStyle/>
                    <a:p>
                      <a:pPr algn="l">
                        <a:lnSpc>
                          <a:spcPct val="108000"/>
                        </a:lnSpc>
                      </a:pPr>
                      <a:r>
                        <a:rPr sz="1275" b="0">
                          <a:solidFill>
                            <a:srgbClr val="111111"/>
                          </a:solidFill>
                          <a:latin typeface="Arial"/>
                        </a:rPr>
                        <a:t>What to present. The facilitator leads the fairness talk; the family decides in principle.</a:t>
                      </a:r>
                    </a:p>
                  </a:txBody>
                  <a:tcPr marL="88900" marR="88900" marT="50800" marB="50800">
                    <a:solidFill>
                      <a:srgbClr val="FFFAF1"/>
                    </a:solidFill>
                  </a:tcPr>
                </a:tc>
              </a:tr>
              <a:tr h="787400">
                <a:tc>
                  <a:txBody>
                    <a:bodyPr wrap="square" lIns="0" rIns="0" tIns="0" bIns="0" anchor="ctr"/>
                    <a:lstStyle/>
                    <a:p>
                      <a:pPr algn="ctr">
                        <a:lnSpc>
                          <a:spcPct val="115000"/>
                        </a:lnSpc>
                      </a:pPr>
                      <a:r>
                        <a:rPr sz="1500" b="1">
                          <a:solidFill>
                            <a:srgbClr val="FFFFFF"/>
                          </a:solidFill>
                          <a:latin typeface="Arial"/>
                        </a:rPr>
                        <a:t>Activate</a:t>
                      </a:r>
                    </a:p>
                  </a:txBody>
                  <a:tcPr marL="88900" marR="88900" marT="50800" marB="50800">
                    <a:solidFill>
                      <a:srgbClr val="FF6A33"/>
                    </a:solidFill>
                  </a:tcPr>
                </a:tc>
                <a:tc>
                  <a:txBody>
                    <a:bodyPr wrap="square" lIns="0" rIns="0" tIns="0" bIns="0" anchor="ctr"/>
                    <a:lstStyle/>
                    <a:p>
                      <a:pPr algn="l">
                        <a:lnSpc>
                          <a:spcPct val="108000"/>
                        </a:lnSpc>
                      </a:pPr>
                      <a:r>
                        <a:rPr sz="1425" b="1">
                          <a:solidFill>
                            <a:srgbClr val="111111"/>
                          </a:solidFill>
                          <a:latin typeface="Arial"/>
                        </a:rPr>
                        <a:t>Inbox and specialists</a:t>
                      </a:r>
                    </a:p>
                  </a:txBody>
                  <a:tcPr marL="88900" marR="88900" marT="50800" marB="50800">
                    <a:solidFill>
                      <a:srgbClr val="FFF3DE"/>
                    </a:solidFill>
                  </a:tcPr>
                </a:tc>
                <a:tc>
                  <a:txBody>
                    <a:bodyPr wrap="square" lIns="0" rIns="0" tIns="0" bIns="0" anchor="ctr"/>
                    <a:lstStyle/>
                    <a:p>
                      <a:pPr algn="l">
                        <a:lnSpc>
                          <a:spcPct val="108000"/>
                        </a:lnSpc>
                      </a:pPr>
                      <a:r>
                        <a:rPr sz="1275" b="0">
                          <a:solidFill>
                            <a:srgbClr val="4A4A4A"/>
                          </a:solidFill>
                          <a:latin typeface="Arial"/>
                        </a:rPr>
                        <a:t>Drafts each reply from the plan; routes tasks to five specialist teams; flags $8.0–9.0M heading to heirs who bank elsewhere.</a:t>
                      </a:r>
                    </a:p>
                  </a:txBody>
                  <a:tcPr marL="88900" marR="88900" marT="50800" marB="50800">
                    <a:solidFill>
                      <a:srgbClr val="FFF3DE"/>
                    </a:solidFill>
                  </a:tcPr>
                </a:tc>
                <a:tc>
                  <a:txBody>
                    <a:bodyPr wrap="square" lIns="0" rIns="0" tIns="0" bIns="0" anchor="ctr"/>
                    <a:lstStyle/>
                    <a:p>
                      <a:pPr algn="l">
                        <a:lnSpc>
                          <a:spcPct val="108000"/>
                        </a:lnSpc>
                      </a:pPr>
                      <a:r>
                        <a:rPr sz="1275" b="0">
                          <a:solidFill>
                            <a:srgbClr val="111111"/>
                          </a:solidFill>
                          <a:latin typeface="Arial"/>
                        </a:rPr>
                        <a:t>Edits and sends every reply. Introduces PNC to Claire and Sam, with Margaret's agreement.</a:t>
                      </a:r>
                    </a:p>
                  </a:txBody>
                  <a:tcPr marL="88900" marR="88900" marT="50800" marB="50800">
                    <a:solidFill>
                      <a:srgbClr val="FFF3DE"/>
                    </a:solidFill>
                  </a:tcPr>
                </a:tc>
              </a:tr>
            </a:tbl>
          </a:graphicData>
        </a:graphic>
      </p:graphicFrame>
      <p:pic>
        <p:nvPicPr>
          <p:cNvPr id="10" name="Picture 9" descr="d2_brief.png"/>
          <p:cNvPicPr>
            <a:picLocks noChangeAspect="1"/>
          </p:cNvPicPr>
          <p:nvPr/>
        </p:nvPicPr>
        <p:blipFill>
          <a:blip r:embed="rId2"/>
          <a:stretch>
            <a:fillRect/>
          </a:stretch>
        </p:blipFill>
        <p:spPr>
          <a:xfrm>
            <a:off x="7937500" y="1358900"/>
            <a:ext cx="3746500" cy="2111664"/>
          </a:xfrm>
          <a:prstGeom prst="rect">
            <a:avLst/>
          </a:prstGeom>
        </p:spPr>
      </p:pic>
      <p:sp>
        <p:nvSpPr>
          <p:cNvPr id="11" name="TextBox 10"/>
          <p:cNvSpPr txBox="1"/>
          <p:nvPr/>
        </p:nvSpPr>
        <p:spPr>
          <a:xfrm>
            <a:off x="7937500" y="3511550"/>
            <a:ext cx="3746500" cy="165100"/>
          </a:xfrm>
          <a:prstGeom prst="rect">
            <a:avLst/>
          </a:prstGeom>
          <a:noFill/>
        </p:spPr>
        <p:txBody>
          <a:bodyPr wrap="square" lIns="0" rIns="0" tIns="0" bIns="0" anchor="t">
            <a:spAutoFit/>
          </a:bodyPr>
          <a:lstStyle/>
          <a:p>
            <a:pPr algn="l">
              <a:lnSpc>
                <a:spcPct val="115000"/>
              </a:lnSpc>
            </a:pPr>
            <a:r>
              <a:rPr sz="1200" b="1">
                <a:solidFill>
                  <a:srgbClr val="4A4A4A"/>
                </a:solidFill>
                <a:latin typeface="Arial"/>
              </a:rPr>
              <a:t>AI brief: </a:t>
            </a:r>
            <a:r>
              <a:rPr sz="1200" b="0">
                <a:solidFill>
                  <a:srgbClr val="4A4A4A"/>
                </a:solidFill>
                <a:latin typeface="Arial"/>
              </a:rPr>
              <a:t>every AI step is shown, then Alex approves</a:t>
            </a:r>
          </a:p>
        </p:txBody>
      </p:sp>
      <p:pic>
        <p:nvPicPr>
          <p:cNvPr id="12" name="Picture 11" descr="d3_guide.png"/>
          <p:cNvPicPr>
            <a:picLocks noChangeAspect="1"/>
          </p:cNvPicPr>
          <p:nvPr/>
        </p:nvPicPr>
        <p:blipFill>
          <a:blip r:embed="rId3"/>
          <a:stretch>
            <a:fillRect/>
          </a:stretch>
        </p:blipFill>
        <p:spPr>
          <a:xfrm>
            <a:off x="7937500" y="3746500"/>
            <a:ext cx="1835150" cy="1028700"/>
          </a:xfrm>
          <a:prstGeom prst="rect">
            <a:avLst/>
          </a:prstGeom>
        </p:spPr>
      </p:pic>
      <p:pic>
        <p:nvPicPr>
          <p:cNvPr id="13" name="Picture 12" descr="d4_inbox.png"/>
          <p:cNvPicPr>
            <a:picLocks noChangeAspect="1"/>
          </p:cNvPicPr>
          <p:nvPr/>
        </p:nvPicPr>
        <p:blipFill>
          <a:blip r:embed="rId4"/>
          <a:stretch>
            <a:fillRect/>
          </a:stretch>
        </p:blipFill>
        <p:spPr>
          <a:xfrm>
            <a:off x="9848850" y="3746500"/>
            <a:ext cx="1835150" cy="1028700"/>
          </a:xfrm>
          <a:prstGeom prst="rect">
            <a:avLst/>
          </a:prstGeom>
        </p:spPr>
      </p:pic>
      <p:sp>
        <p:nvSpPr>
          <p:cNvPr id="14" name="TextBox 13"/>
          <p:cNvSpPr txBox="1"/>
          <p:nvPr/>
        </p:nvSpPr>
        <p:spPr>
          <a:xfrm>
            <a:off x="7937500" y="4826000"/>
            <a:ext cx="3746500" cy="317500"/>
          </a:xfrm>
          <a:prstGeom prst="rect">
            <a:avLst/>
          </a:prstGeom>
          <a:noFill/>
        </p:spPr>
        <p:txBody>
          <a:bodyPr wrap="square" lIns="0" rIns="0" tIns="0" bIns="0" anchor="t">
            <a:spAutoFit/>
          </a:bodyPr>
          <a:lstStyle/>
          <a:p>
            <a:pPr algn="l">
              <a:lnSpc>
                <a:spcPct val="110000"/>
              </a:lnSpc>
            </a:pPr>
            <a:r>
              <a:rPr sz="1200" b="1">
                <a:solidFill>
                  <a:srgbClr val="4A4A4A"/>
                </a:solidFill>
                <a:latin typeface="Arial"/>
              </a:rPr>
              <a:t>Meeting guide and inbox: </a:t>
            </a:r>
            <a:r>
              <a:rPr sz="1200" b="0">
                <a:solidFill>
                  <a:srgbClr val="4A4A4A"/>
                </a:solidFill>
                <a:latin typeface="Arial"/>
              </a:rPr>
              <a:t>AI drafts the run of show and each reply; Alex presents and sends</a:t>
            </a:r>
          </a:p>
        </p:txBody>
      </p:sp>
      <p:sp>
        <p:nvSpPr>
          <p:cNvPr id="15" name="Rectangle 14"/>
          <p:cNvSpPr/>
          <p:nvPr/>
        </p:nvSpPr>
        <p:spPr>
          <a:xfrm>
            <a:off x="0" y="5588000"/>
            <a:ext cx="12192000" cy="749300"/>
          </a:xfrm>
          <a:prstGeom prst="rect">
            <a:avLst/>
          </a:prstGeom>
          <a:solidFill>
            <a:srgbClr val="FFB4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08000" y="5588000"/>
            <a:ext cx="2032000" cy="749300"/>
          </a:xfrm>
          <a:prstGeom prst="rect">
            <a:avLst/>
          </a:prstGeom>
          <a:noFill/>
        </p:spPr>
        <p:txBody>
          <a:bodyPr wrap="square" lIns="0" rIns="0" tIns="0" bIns="0" anchor="ctr">
            <a:spAutoFit/>
          </a:bodyPr>
          <a:lstStyle/>
          <a:p>
            <a:pPr algn="l">
              <a:lnSpc>
                <a:spcPct val="100000"/>
              </a:lnSpc>
            </a:pPr>
            <a:r>
              <a:rPr sz="1800" b="1">
                <a:solidFill>
                  <a:srgbClr val="111111"/>
                </a:solidFill>
                <a:latin typeface="Arial"/>
              </a:rPr>
              <a:t>ADVISOR RULE</a:t>
            </a:r>
          </a:p>
        </p:txBody>
      </p:sp>
      <p:sp>
        <p:nvSpPr>
          <p:cNvPr id="17" name="TextBox 16"/>
          <p:cNvSpPr txBox="1"/>
          <p:nvPr/>
        </p:nvSpPr>
        <p:spPr>
          <a:xfrm>
            <a:off x="2540000" y="5588000"/>
            <a:ext cx="9144000" cy="749300"/>
          </a:xfrm>
          <a:prstGeom prst="rect">
            <a:avLst/>
          </a:prstGeom>
          <a:noFill/>
        </p:spPr>
        <p:txBody>
          <a:bodyPr wrap="square" lIns="0" rIns="0" tIns="0" bIns="0" anchor="ctr">
            <a:spAutoFit/>
          </a:bodyPr>
          <a:lstStyle/>
          <a:p>
            <a:pPr algn="l">
              <a:lnSpc>
                <a:spcPct val="115000"/>
              </a:lnSpc>
            </a:pPr>
            <a:r>
              <a:rPr sz="1575" b="0">
                <a:solidFill>
                  <a:srgbClr val="111111"/>
                </a:solidFill>
                <a:latin typeface="Arial"/>
              </a:rPr>
              <a:t>AI reads, scores, drafts and routes. </a:t>
            </a:r>
            <a:r>
              <a:rPr sz="1575" b="1">
                <a:solidFill>
                  <a:srgbClr val="111111"/>
                </a:solidFill>
                <a:latin typeface="Arial"/>
              </a:rPr>
              <a:t>Alex reviews every output before any client action,</a:t>
            </a:r>
            <a:r>
              <a:rPr sz="1575" b="0">
                <a:solidFill>
                  <a:srgbClr val="111111"/>
                </a:solidFill>
                <a:latin typeface="Arial"/>
              </a:rPr>
              <a:t> and sees the family's gaps, never anyone's words.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3DE"/>
        </a:solidFill>
        <a:effectLst/>
      </p:bgPr>
    </p:bg>
    <p:spTree>
      <p:nvGrpSpPr>
        <p:cNvPr id="1" name=""/>
        <p:cNvGrpSpPr/>
        <p:nvPr/>
      </p:nvGrpSpPr>
      <p:grpSpPr/>
      <p:sp>
        <p:nvSpPr>
          <p:cNvPr id="2" name="Rectangle 1"/>
          <p:cNvSpPr/>
          <p:nvPr/>
        </p:nvSpPr>
        <p:spPr>
          <a:xfrm>
            <a:off x="11379200" y="0"/>
            <a:ext cx="406400" cy="406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10972800" y="406400"/>
            <a:ext cx="406400" cy="406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1785600" y="406400"/>
            <a:ext cx="406400" cy="406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8000" y="342900"/>
            <a:ext cx="9906000" cy="444500"/>
          </a:xfrm>
          <a:prstGeom prst="rect">
            <a:avLst/>
          </a:prstGeom>
          <a:noFill/>
        </p:spPr>
        <p:txBody>
          <a:bodyPr wrap="square" lIns="0" rIns="0" tIns="0" bIns="0" anchor="t">
            <a:spAutoFit/>
          </a:bodyPr>
          <a:lstStyle/>
          <a:p>
            <a:pPr algn="l">
              <a:lnSpc>
                <a:spcPct val="115000"/>
              </a:lnSpc>
            </a:pPr>
            <a:r>
              <a:rPr sz="4200" b="1">
                <a:solidFill>
                  <a:srgbClr val="111111"/>
                </a:solidFill>
                <a:latin typeface="Arial"/>
              </a:rPr>
              <a:t>Added Value: The Secret Sauce &amp; Core Innovation</a:t>
            </a:r>
          </a:p>
        </p:txBody>
      </p:sp>
      <p:sp>
        <p:nvSpPr>
          <p:cNvPr id="6" name="TextBox 5"/>
          <p:cNvSpPr txBox="1"/>
          <p:nvPr/>
        </p:nvSpPr>
        <p:spPr>
          <a:xfrm>
            <a:off x="508000" y="863600"/>
            <a:ext cx="9906000" cy="254000"/>
          </a:xfrm>
          <a:prstGeom prst="rect">
            <a:avLst/>
          </a:prstGeom>
          <a:noFill/>
        </p:spPr>
        <p:txBody>
          <a:bodyPr wrap="square" lIns="0" rIns="0" tIns="0" bIns="0" anchor="t">
            <a:spAutoFit/>
          </a:bodyPr>
          <a:lstStyle/>
          <a:p>
            <a:pPr algn="l">
              <a:lnSpc>
                <a:spcPct val="115000"/>
              </a:lnSpc>
            </a:pPr>
            <a:r>
              <a:rPr sz="1800" b="0">
                <a:solidFill>
                  <a:srgbClr val="4A4A4A"/>
                </a:solidFill>
                <a:latin typeface="Arial"/>
              </a:rPr>
              <a:t>Three assets only PNC can combine, and what they are worth to the family and to PNC</a:t>
            </a:r>
          </a:p>
        </p:txBody>
      </p:sp>
      <p:sp>
        <p:nvSpPr>
          <p:cNvPr id="7" name="Rectangle 6"/>
          <p:cNvSpPr/>
          <p:nvPr/>
        </p:nvSpPr>
        <p:spPr>
          <a:xfrm>
            <a:off x="508000" y="1181100"/>
            <a:ext cx="3556000" cy="25400"/>
          </a:xfrm>
          <a:prstGeom prst="rect">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8000" y="6527800"/>
            <a:ext cx="11176000" cy="190500"/>
          </a:xfrm>
          <a:prstGeom prst="rect">
            <a:avLst/>
          </a:prstGeom>
          <a:noFill/>
        </p:spPr>
        <p:txBody>
          <a:bodyPr wrap="square" lIns="0" rIns="0" tIns="0" bIns="0" anchor="t">
            <a:spAutoFit/>
          </a:bodyPr>
          <a:lstStyle/>
          <a:p>
            <a:pPr algn="l">
              <a:lnSpc>
                <a:spcPct val="115000"/>
              </a:lnSpc>
            </a:pPr>
            <a:r>
              <a:rPr sz="1200" b="0">
                <a:solidFill>
                  <a:srgbClr val="4A4A4A"/>
                </a:solidFill>
                <a:latin typeface="Arial"/>
              </a:rPr>
              <a:t>Sources: Cerulli Associates (2019), 13% of adult children use their parents' advisor. Wilson figures are fictional; the fee is an illustrative 0.8% blended rate, to validate with PNC.</a:t>
            </a:r>
          </a:p>
        </p:txBody>
      </p:sp>
      <p:sp>
        <p:nvSpPr>
          <p:cNvPr id="9" name="Rounded Rectangle 8"/>
          <p:cNvSpPr/>
          <p:nvPr/>
        </p:nvSpPr>
        <p:spPr>
          <a:xfrm>
            <a:off x="508000" y="1358900"/>
            <a:ext cx="3606800" cy="2540000"/>
          </a:xfrm>
          <a:prstGeom prst="roundRect">
            <a:avLst>
              <a:gd name="adj" fmla="val 5000"/>
            </a:avLst>
          </a:prstGeom>
          <a:solidFill>
            <a:srgbClr val="0506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11200" y="1549400"/>
            <a:ext cx="1225550" cy="2159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75" b="1">
                <a:solidFill>
                  <a:srgbClr val="05060D"/>
                </a:solidFill>
                <a:latin typeface="Arial"/>
              </a:rPr>
              <a:t>Machine learning</a:t>
            </a:r>
          </a:p>
        </p:txBody>
      </p:sp>
      <p:sp>
        <p:nvSpPr>
          <p:cNvPr id="11" name="TextBox 10"/>
          <p:cNvSpPr txBox="1"/>
          <p:nvPr/>
        </p:nvSpPr>
        <p:spPr>
          <a:xfrm>
            <a:off x="711200" y="1879600"/>
            <a:ext cx="3200400" cy="482600"/>
          </a:xfrm>
          <a:prstGeom prst="rect">
            <a:avLst/>
          </a:prstGeom>
          <a:noFill/>
        </p:spPr>
        <p:txBody>
          <a:bodyPr wrap="square" lIns="0" rIns="0" tIns="0" bIns="0" anchor="t">
            <a:spAutoFit/>
          </a:bodyPr>
          <a:lstStyle/>
          <a:p>
            <a:pPr algn="l">
              <a:lnSpc>
                <a:spcPct val="105000"/>
              </a:lnSpc>
            </a:pPr>
            <a:r>
              <a:rPr sz="2250" b="1">
                <a:solidFill>
                  <a:srgbClr val="FFFFFF"/>
                </a:solidFill>
                <a:latin typeface="Arial"/>
              </a:rPr>
              <a:t>A signal PNC already holds</a:t>
            </a:r>
          </a:p>
        </p:txBody>
      </p:sp>
      <p:sp>
        <p:nvSpPr>
          <p:cNvPr id="12" name="TextBox 11"/>
          <p:cNvSpPr txBox="1"/>
          <p:nvPr/>
        </p:nvSpPr>
        <p:spPr>
          <a:xfrm>
            <a:off x="711200" y="2413000"/>
            <a:ext cx="3200400" cy="609600"/>
          </a:xfrm>
          <a:prstGeom prst="rect">
            <a:avLst/>
          </a:prstGeom>
          <a:noFill/>
        </p:spPr>
        <p:txBody>
          <a:bodyPr wrap="square" lIns="0" rIns="0" tIns="0" bIns="0" anchor="t">
            <a:spAutoFit/>
          </a:bodyPr>
          <a:lstStyle/>
          <a:p>
            <a:pPr algn="l">
              <a:lnSpc>
                <a:spcPct val="115000"/>
              </a:lnSpc>
            </a:pPr>
            <a:r>
              <a:rPr sz="1425" b="0">
                <a:solidFill>
                  <a:srgbClr val="C9D0DE"/>
                </a:solidFill>
                <a:latin typeface="Arial"/>
              </a:rPr>
              <a:t>PNC banks the operating company. Payments to M&amp;A advisers, audited-financials requests and early paydowns flag a sale 12–18 months ahead.</a:t>
            </a:r>
          </a:p>
        </p:txBody>
      </p:sp>
      <p:sp>
        <p:nvSpPr>
          <p:cNvPr id="13" name="TextBox 12"/>
          <p:cNvSpPr txBox="1"/>
          <p:nvPr/>
        </p:nvSpPr>
        <p:spPr>
          <a:xfrm>
            <a:off x="711200" y="3073400"/>
            <a:ext cx="3200400" cy="177800"/>
          </a:xfrm>
          <a:prstGeom prst="rect">
            <a:avLst/>
          </a:prstGeom>
          <a:noFill/>
        </p:spPr>
        <p:txBody>
          <a:bodyPr wrap="square" lIns="0" rIns="0" tIns="0" bIns="0" anchor="t">
            <a:spAutoFit/>
          </a:bodyPr>
          <a:lstStyle/>
          <a:p>
            <a:pPr algn="l">
              <a:lnSpc>
                <a:spcPct val="115000"/>
              </a:lnSpc>
            </a:pPr>
            <a:r>
              <a:rPr sz="1350" b="1">
                <a:solidFill>
                  <a:srgbClr val="F7A766"/>
                </a:solidFill>
                <a:latin typeface="Arial"/>
              </a:rPr>
              <a:t>Powers Explore</a:t>
            </a:r>
          </a:p>
        </p:txBody>
      </p:sp>
      <p:sp>
        <p:nvSpPr>
          <p:cNvPr id="14" name="Rectangle 13"/>
          <p:cNvSpPr/>
          <p:nvPr/>
        </p:nvSpPr>
        <p:spPr>
          <a:xfrm>
            <a:off x="711200" y="3352800"/>
            <a:ext cx="3200400" cy="12700"/>
          </a:xfrm>
          <a:prstGeom prst="rect">
            <a:avLst/>
          </a:prstGeom>
          <a:solidFill>
            <a:srgbClr val="3A4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1200" y="3429000"/>
            <a:ext cx="3200400" cy="381000"/>
          </a:xfrm>
          <a:prstGeom prst="rect">
            <a:avLst/>
          </a:prstGeom>
          <a:noFill/>
        </p:spPr>
        <p:txBody>
          <a:bodyPr wrap="square" lIns="0" rIns="0" tIns="0" bIns="0" anchor="t">
            <a:spAutoFit/>
          </a:bodyPr>
          <a:lstStyle/>
          <a:p>
            <a:pPr algn="l">
              <a:lnSpc>
                <a:spcPct val="110000"/>
              </a:lnSpc>
            </a:pPr>
            <a:r>
              <a:rPr sz="1350" b="1">
                <a:solidFill>
                  <a:srgbClr val="FFFFFF"/>
                </a:solidFill>
                <a:latin typeface="Arial"/>
              </a:rPr>
              <a:t>Hard to copy: </a:t>
            </a:r>
            <a:r>
              <a:rPr sz="1350" b="0">
                <a:solidFill>
                  <a:srgbClr val="FFFFFF"/>
                </a:solidFill>
                <a:latin typeface="Arial"/>
              </a:rPr>
              <a:t>Outside wealth managers see the money only after it moves.</a:t>
            </a:r>
          </a:p>
        </p:txBody>
      </p:sp>
      <p:sp>
        <p:nvSpPr>
          <p:cNvPr id="16" name="Rounded Rectangle 15"/>
          <p:cNvSpPr/>
          <p:nvPr/>
        </p:nvSpPr>
        <p:spPr>
          <a:xfrm>
            <a:off x="4292600" y="1358900"/>
            <a:ext cx="3606800" cy="2540000"/>
          </a:xfrm>
          <a:prstGeom prst="roundRect">
            <a:avLst>
              <a:gd name="adj" fmla="val 5000"/>
            </a:avLst>
          </a:prstGeom>
          <a:solidFill>
            <a:srgbClr val="FF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95800" y="1549400"/>
            <a:ext cx="1416050" cy="2159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75" b="1">
                <a:solidFill>
                  <a:srgbClr val="FF6A33"/>
                </a:solidFill>
                <a:latin typeface="Arial"/>
              </a:rPr>
              <a:t>NLP + fixed formula</a:t>
            </a:r>
          </a:p>
        </p:txBody>
      </p:sp>
      <p:sp>
        <p:nvSpPr>
          <p:cNvPr id="18" name="TextBox 17"/>
          <p:cNvSpPr txBox="1"/>
          <p:nvPr/>
        </p:nvSpPr>
        <p:spPr>
          <a:xfrm>
            <a:off x="4495800" y="1879600"/>
            <a:ext cx="3200400" cy="482600"/>
          </a:xfrm>
          <a:prstGeom prst="rect">
            <a:avLst/>
          </a:prstGeom>
          <a:noFill/>
        </p:spPr>
        <p:txBody>
          <a:bodyPr wrap="square" lIns="0" rIns="0" tIns="0" bIns="0" anchor="t">
            <a:spAutoFit/>
          </a:bodyPr>
          <a:lstStyle/>
          <a:p>
            <a:pPr algn="l">
              <a:lnSpc>
                <a:spcPct val="105000"/>
              </a:lnSpc>
            </a:pPr>
            <a:r>
              <a:rPr sz="2250" b="1">
                <a:solidFill>
                  <a:srgbClr val="FFFFFF"/>
                </a:solidFill>
                <a:latin typeface="Arial"/>
              </a:rPr>
              <a:t>Private-by-default family intelligence</a:t>
            </a:r>
          </a:p>
        </p:txBody>
      </p:sp>
      <p:sp>
        <p:nvSpPr>
          <p:cNvPr id="19" name="TextBox 18"/>
          <p:cNvSpPr txBox="1"/>
          <p:nvPr/>
        </p:nvSpPr>
        <p:spPr>
          <a:xfrm>
            <a:off x="4495800" y="2413000"/>
            <a:ext cx="3200400" cy="609600"/>
          </a:xfrm>
          <a:prstGeom prst="rect">
            <a:avLst/>
          </a:prstGeom>
          <a:noFill/>
        </p:spPr>
        <p:txBody>
          <a:bodyPr wrap="square" lIns="0" rIns="0" tIns="0" bIns="0" anchor="t">
            <a:spAutoFit/>
          </a:bodyPr>
          <a:lstStyle/>
          <a:p>
            <a:pPr algn="l">
              <a:lnSpc>
                <a:spcPct val="115000"/>
              </a:lnSpc>
            </a:pPr>
            <a:r>
              <a:rPr sz="1425" b="0">
                <a:solidFill>
                  <a:srgbClr val="FFE6D9"/>
                </a:solidFill>
                <a:latin typeface="Arial"/>
              </a:rPr>
              <a:t>Natural-language processing turns each member's private words into themes inside their own vault. A fixed formula scores where the family disagrees.</a:t>
            </a:r>
          </a:p>
        </p:txBody>
      </p:sp>
      <p:sp>
        <p:nvSpPr>
          <p:cNvPr id="20" name="TextBox 19"/>
          <p:cNvSpPr txBox="1"/>
          <p:nvPr/>
        </p:nvSpPr>
        <p:spPr>
          <a:xfrm>
            <a:off x="4495800" y="3073400"/>
            <a:ext cx="3200400" cy="177800"/>
          </a:xfrm>
          <a:prstGeom prst="rect">
            <a:avLst/>
          </a:prstGeom>
          <a:noFill/>
        </p:spPr>
        <p:txBody>
          <a:bodyPr wrap="square" lIns="0" rIns="0" tIns="0" bIns="0" anchor="t">
            <a:spAutoFit/>
          </a:bodyPr>
          <a:lstStyle/>
          <a:p>
            <a:pPr algn="l">
              <a:lnSpc>
                <a:spcPct val="115000"/>
              </a:lnSpc>
            </a:pPr>
            <a:r>
              <a:rPr sz="1350" b="1">
                <a:solidFill>
                  <a:srgbClr val="FFFFFF"/>
                </a:solidFill>
                <a:latin typeface="Arial"/>
              </a:rPr>
              <a:t>Powers Align and Allocate</a:t>
            </a:r>
          </a:p>
        </p:txBody>
      </p:sp>
      <p:sp>
        <p:nvSpPr>
          <p:cNvPr id="21" name="Rectangle 20"/>
          <p:cNvSpPr/>
          <p:nvPr/>
        </p:nvSpPr>
        <p:spPr>
          <a:xfrm>
            <a:off x="4495800" y="3352800"/>
            <a:ext cx="3200400" cy="12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95800" y="3429000"/>
            <a:ext cx="3200400" cy="381000"/>
          </a:xfrm>
          <a:prstGeom prst="rect">
            <a:avLst/>
          </a:prstGeom>
          <a:noFill/>
        </p:spPr>
        <p:txBody>
          <a:bodyPr wrap="square" lIns="0" rIns="0" tIns="0" bIns="0" anchor="t">
            <a:spAutoFit/>
          </a:bodyPr>
          <a:lstStyle/>
          <a:p>
            <a:pPr algn="l">
              <a:lnSpc>
                <a:spcPct val="110000"/>
              </a:lnSpc>
            </a:pPr>
            <a:r>
              <a:rPr sz="1350" b="1">
                <a:solidFill>
                  <a:srgbClr val="FFFFFF"/>
                </a:solidFill>
                <a:latin typeface="Arial"/>
              </a:rPr>
              <a:t>Hard to copy: </a:t>
            </a:r>
            <a:r>
              <a:rPr sz="1350" b="0">
                <a:solidFill>
                  <a:srgbClr val="FFFFFF"/>
                </a:solidFill>
                <a:latin typeface="Arial"/>
              </a:rPr>
              <a:t>Honest answers given in private can't be bought, scraped or rebuilt.</a:t>
            </a:r>
          </a:p>
        </p:txBody>
      </p:sp>
      <p:sp>
        <p:nvSpPr>
          <p:cNvPr id="23" name="Rounded Rectangle 22"/>
          <p:cNvSpPr/>
          <p:nvPr/>
        </p:nvSpPr>
        <p:spPr>
          <a:xfrm>
            <a:off x="8077200" y="1358900"/>
            <a:ext cx="3606800" cy="2540000"/>
          </a:xfrm>
          <a:prstGeom prst="roundRect">
            <a:avLst>
              <a:gd name="adj" fmla="val 5000"/>
            </a:avLst>
          </a:prstGeom>
          <a:solidFill>
            <a:srgbClr val="FFFFFF"/>
          </a:solidFill>
          <a:ln w="12700">
            <a:solidFill>
              <a:srgbClr val="E6D9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8280400" y="1549400"/>
            <a:ext cx="1104900" cy="215900"/>
          </a:xfrm>
          <a:prstGeom prst="roundRect">
            <a:avLst>
              <a:gd name="adj" fmla="val 50000"/>
            </a:avLst>
          </a:prstGeom>
          <a:solidFill>
            <a:srgbClr val="0069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pPr>
            <a:r>
              <a:rPr sz="1275" b="1">
                <a:solidFill>
                  <a:srgbClr val="FFFFFF"/>
                </a:solidFill>
                <a:latin typeface="Arial"/>
              </a:rPr>
              <a:t>Consent ledger</a:t>
            </a:r>
          </a:p>
        </p:txBody>
      </p:sp>
      <p:sp>
        <p:nvSpPr>
          <p:cNvPr id="25" name="TextBox 24"/>
          <p:cNvSpPr txBox="1"/>
          <p:nvPr/>
        </p:nvSpPr>
        <p:spPr>
          <a:xfrm>
            <a:off x="8280400" y="1879600"/>
            <a:ext cx="3200400" cy="482600"/>
          </a:xfrm>
          <a:prstGeom prst="rect">
            <a:avLst/>
          </a:prstGeom>
          <a:noFill/>
        </p:spPr>
        <p:txBody>
          <a:bodyPr wrap="square" lIns="0" rIns="0" tIns="0" bIns="0" anchor="t">
            <a:spAutoFit/>
          </a:bodyPr>
          <a:lstStyle/>
          <a:p>
            <a:pPr algn="l">
              <a:lnSpc>
                <a:spcPct val="105000"/>
              </a:lnSpc>
            </a:pPr>
            <a:r>
              <a:rPr sz="2250" b="1">
                <a:solidFill>
                  <a:srgbClr val="111111"/>
                </a:solidFill>
                <a:latin typeface="Arial"/>
              </a:rPr>
              <a:t>One household graph</a:t>
            </a:r>
          </a:p>
        </p:txBody>
      </p:sp>
      <p:sp>
        <p:nvSpPr>
          <p:cNvPr id="26" name="TextBox 25"/>
          <p:cNvSpPr txBox="1"/>
          <p:nvPr/>
        </p:nvSpPr>
        <p:spPr>
          <a:xfrm>
            <a:off x="8280400" y="2413000"/>
            <a:ext cx="3200400" cy="609600"/>
          </a:xfrm>
          <a:prstGeom prst="rect">
            <a:avLst/>
          </a:prstGeom>
          <a:noFill/>
        </p:spPr>
        <p:txBody>
          <a:bodyPr wrap="square" lIns="0" rIns="0" tIns="0" bIns="0" anchor="t">
            <a:spAutoFit/>
          </a:bodyPr>
          <a:lstStyle/>
          <a:p>
            <a:pPr algn="l">
              <a:lnSpc>
                <a:spcPct val="115000"/>
              </a:lnSpc>
            </a:pPr>
            <a:r>
              <a:rPr sz="1425" b="0">
                <a:solidFill>
                  <a:srgbClr val="4A4A4A"/>
                </a:solidFill>
                <a:latin typeface="Arial"/>
              </a:rPr>
              <a:t>Business, owners, spouse, heirs, trusts and accounts in one consented map, under one roof with Business Banking, the Private Bank and Hawthorn IFS.</a:t>
            </a:r>
          </a:p>
        </p:txBody>
      </p:sp>
      <p:sp>
        <p:nvSpPr>
          <p:cNvPr id="27" name="TextBox 26"/>
          <p:cNvSpPr txBox="1"/>
          <p:nvPr/>
        </p:nvSpPr>
        <p:spPr>
          <a:xfrm>
            <a:off x="8280400" y="3073400"/>
            <a:ext cx="3200400" cy="177800"/>
          </a:xfrm>
          <a:prstGeom prst="rect">
            <a:avLst/>
          </a:prstGeom>
          <a:noFill/>
        </p:spPr>
        <p:txBody>
          <a:bodyPr wrap="square" lIns="0" rIns="0" tIns="0" bIns="0" anchor="t">
            <a:spAutoFit/>
          </a:bodyPr>
          <a:lstStyle/>
          <a:p>
            <a:pPr algn="l">
              <a:lnSpc>
                <a:spcPct val="115000"/>
              </a:lnSpc>
            </a:pPr>
            <a:r>
              <a:rPr sz="1350" b="1">
                <a:solidFill>
                  <a:srgbClr val="FF6A33"/>
                </a:solidFill>
                <a:latin typeface="Arial"/>
              </a:rPr>
              <a:t>Powers Activate and Continue</a:t>
            </a:r>
          </a:p>
        </p:txBody>
      </p:sp>
      <p:sp>
        <p:nvSpPr>
          <p:cNvPr id="28" name="Rectangle 27"/>
          <p:cNvSpPr/>
          <p:nvPr/>
        </p:nvSpPr>
        <p:spPr>
          <a:xfrm>
            <a:off x="8280400" y="3352800"/>
            <a:ext cx="3200400" cy="12700"/>
          </a:xfrm>
          <a:prstGeom prst="rect">
            <a:avLst/>
          </a:prstGeom>
          <a:solidFill>
            <a:srgbClr val="E6D9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80400" y="3429000"/>
            <a:ext cx="3200400" cy="381000"/>
          </a:xfrm>
          <a:prstGeom prst="rect">
            <a:avLst/>
          </a:prstGeom>
          <a:noFill/>
        </p:spPr>
        <p:txBody>
          <a:bodyPr wrap="square" lIns="0" rIns="0" tIns="0" bIns="0" anchor="t">
            <a:spAutoFit/>
          </a:bodyPr>
          <a:lstStyle/>
          <a:p>
            <a:pPr algn="l">
              <a:lnSpc>
                <a:spcPct val="110000"/>
              </a:lnSpc>
            </a:pPr>
            <a:r>
              <a:rPr sz="1350" b="1">
                <a:solidFill>
                  <a:srgbClr val="111111"/>
                </a:solidFill>
                <a:latin typeface="Arial"/>
              </a:rPr>
              <a:t>Hard to copy: </a:t>
            </a:r>
            <a:r>
              <a:rPr sz="1350" b="0">
                <a:solidFill>
                  <a:srgbClr val="111111"/>
                </a:solidFill>
                <a:latin typeface="Arial"/>
              </a:rPr>
              <a:t>Heirs become PNC relationships before any money moves.</a:t>
            </a:r>
          </a:p>
        </p:txBody>
      </p:sp>
      <p:sp>
        <p:nvSpPr>
          <p:cNvPr id="30" name="TextBox 29"/>
          <p:cNvSpPr txBox="1"/>
          <p:nvPr/>
        </p:nvSpPr>
        <p:spPr>
          <a:xfrm>
            <a:off x="508000" y="4064000"/>
            <a:ext cx="3556000" cy="190500"/>
          </a:xfrm>
          <a:prstGeom prst="rect">
            <a:avLst/>
          </a:prstGeom>
          <a:noFill/>
        </p:spPr>
        <p:txBody>
          <a:bodyPr wrap="square" lIns="0" rIns="0" tIns="0" bIns="0" anchor="t">
            <a:spAutoFit/>
          </a:bodyPr>
          <a:lstStyle/>
          <a:p>
            <a:pPr algn="l">
              <a:lnSpc>
                <a:spcPct val="115000"/>
              </a:lnSpc>
            </a:pPr>
            <a:r>
              <a:rPr sz="1650" b="1">
                <a:solidFill>
                  <a:srgbClr val="FF6A33"/>
                </a:solidFill>
                <a:latin typeface="Arial"/>
              </a:rPr>
              <a:t>For the family</a:t>
            </a:r>
          </a:p>
        </p:txBody>
      </p:sp>
      <p:sp>
        <p:nvSpPr>
          <p:cNvPr id="31" name="TextBox 30"/>
          <p:cNvSpPr txBox="1"/>
          <p:nvPr/>
        </p:nvSpPr>
        <p:spPr>
          <a:xfrm>
            <a:off x="508000" y="4292600"/>
            <a:ext cx="3556000" cy="1206500"/>
          </a:xfrm>
          <a:prstGeom prst="rect">
            <a:avLst/>
          </a:prstGeom>
          <a:noFill/>
        </p:spPr>
        <p:txBody>
          <a:bodyPr wrap="square" lIns="0" rIns="0" tIns="0" bIns="0" anchor="t">
            <a:spAutoFit/>
          </a:bodyPr>
          <a:lstStyle/>
          <a:p>
            <a:pPr algn="l">
              <a:lnSpc>
                <a:spcPct val="125000"/>
              </a:lnSpc>
            </a:pPr>
            <a:r>
              <a:rPr sz="1425" b="1">
                <a:solidFill>
                  <a:srgbClr val="FF6A33"/>
                </a:solidFill>
                <a:latin typeface="Arial"/>
              </a:rPr>
              <a:t>•  </a:t>
            </a:r>
            <a:r>
              <a:rPr sz="1425" b="0">
                <a:solidFill>
                  <a:srgbClr val="111111"/>
                </a:solidFill>
                <a:latin typeface="Arial"/>
              </a:rPr>
              <a:t>The fairness gap surfaces before the letter of intent, not after closing</a:t>
            </a:r>
          </a:p>
          <a:p>
            <a:pPr algn="l">
              <a:lnSpc>
                <a:spcPct val="125000"/>
              </a:lnSpc>
            </a:pPr>
            <a:r>
              <a:rPr sz="1425" b="1">
                <a:solidFill>
                  <a:srgbClr val="FF6A33"/>
                </a:solidFill>
                <a:latin typeface="Arial"/>
              </a:rPr>
              <a:t>•  </a:t>
            </a:r>
            <a:r>
              <a:rPr sz="1425" b="0">
                <a:solidFill>
                  <a:srgbClr val="111111"/>
                </a:solidFill>
                <a:latin typeface="Arial"/>
              </a:rPr>
              <a:t>Every child sees their own number under every option</a:t>
            </a:r>
          </a:p>
          <a:p>
            <a:pPr algn="l">
              <a:lnSpc>
                <a:spcPct val="125000"/>
              </a:lnSpc>
            </a:pPr>
            <a:r>
              <a:rPr sz="1425" b="1">
                <a:solidFill>
                  <a:srgbClr val="FF6A33"/>
                </a:solidFill>
                <a:latin typeface="Arial"/>
              </a:rPr>
              <a:t>•  </a:t>
            </a:r>
            <a:r>
              <a:rPr sz="1425" b="0">
                <a:solidFill>
                  <a:srgbClr val="111111"/>
                </a:solidFill>
                <a:latin typeface="Arial"/>
              </a:rPr>
              <a:t>A facilitator steps in when the gap is wide</a:t>
            </a:r>
          </a:p>
        </p:txBody>
      </p:sp>
      <p:sp>
        <p:nvSpPr>
          <p:cNvPr id="32" name="TextBox 31"/>
          <p:cNvSpPr txBox="1"/>
          <p:nvPr/>
        </p:nvSpPr>
        <p:spPr>
          <a:xfrm>
            <a:off x="4445000" y="4064000"/>
            <a:ext cx="7239000" cy="190500"/>
          </a:xfrm>
          <a:prstGeom prst="rect">
            <a:avLst/>
          </a:prstGeom>
          <a:noFill/>
        </p:spPr>
        <p:txBody>
          <a:bodyPr wrap="square" lIns="0" rIns="0" tIns="0" bIns="0" anchor="t">
            <a:spAutoFit/>
          </a:bodyPr>
          <a:lstStyle/>
          <a:p>
            <a:pPr algn="l">
              <a:lnSpc>
                <a:spcPct val="115000"/>
              </a:lnSpc>
            </a:pPr>
            <a:r>
              <a:rPr sz="1650" b="1">
                <a:solidFill>
                  <a:srgbClr val="FF6A33"/>
                </a:solidFill>
                <a:latin typeface="Arial"/>
              </a:rPr>
              <a:t>For PNC, in the Wilson case</a:t>
            </a:r>
          </a:p>
        </p:txBody>
      </p:sp>
      <p:sp>
        <p:nvSpPr>
          <p:cNvPr id="33" name="TextBox 32"/>
          <p:cNvSpPr txBox="1"/>
          <p:nvPr/>
        </p:nvSpPr>
        <p:spPr>
          <a:xfrm>
            <a:off x="4445000" y="4267200"/>
            <a:ext cx="1708150" cy="444500"/>
          </a:xfrm>
          <a:prstGeom prst="rect">
            <a:avLst/>
          </a:prstGeom>
          <a:noFill/>
        </p:spPr>
        <p:txBody>
          <a:bodyPr wrap="square" lIns="0" rIns="0" tIns="0" bIns="0" anchor="t">
            <a:spAutoFit/>
          </a:bodyPr>
          <a:lstStyle/>
          <a:p>
            <a:pPr algn="l">
              <a:lnSpc>
                <a:spcPct val="100000"/>
              </a:lnSpc>
            </a:pPr>
            <a:r>
              <a:rPr sz="4050" b="1">
                <a:solidFill>
                  <a:srgbClr val="111111"/>
                </a:solidFill>
                <a:latin typeface="Arial"/>
              </a:rPr>
              <a:t>$27.0M</a:t>
            </a:r>
          </a:p>
        </p:txBody>
      </p:sp>
      <p:sp>
        <p:nvSpPr>
          <p:cNvPr id="34" name="TextBox 33"/>
          <p:cNvSpPr txBox="1"/>
          <p:nvPr/>
        </p:nvSpPr>
        <p:spPr>
          <a:xfrm>
            <a:off x="4445000" y="4749800"/>
            <a:ext cx="1657350" cy="381000"/>
          </a:xfrm>
          <a:prstGeom prst="rect">
            <a:avLst/>
          </a:prstGeom>
          <a:noFill/>
        </p:spPr>
        <p:txBody>
          <a:bodyPr wrap="square" lIns="0" rIns="0" tIns="0" bIns="0" anchor="t">
            <a:spAutoFit/>
          </a:bodyPr>
          <a:lstStyle/>
          <a:p>
            <a:pPr algn="l">
              <a:lnSpc>
                <a:spcPct val="110000"/>
              </a:lnSpc>
            </a:pPr>
            <a:r>
              <a:rPr sz="1350" b="0">
                <a:solidFill>
                  <a:srgbClr val="4A4A4A"/>
                </a:solidFill>
                <a:latin typeface="Arial"/>
              </a:rPr>
              <a:t>proceeds stay at closing</a:t>
            </a:r>
          </a:p>
        </p:txBody>
      </p:sp>
      <p:sp>
        <p:nvSpPr>
          <p:cNvPr id="35" name="TextBox 34"/>
          <p:cNvSpPr txBox="1"/>
          <p:nvPr/>
        </p:nvSpPr>
        <p:spPr>
          <a:xfrm>
            <a:off x="6254750" y="4267200"/>
            <a:ext cx="1708150" cy="444500"/>
          </a:xfrm>
          <a:prstGeom prst="rect">
            <a:avLst/>
          </a:prstGeom>
          <a:noFill/>
        </p:spPr>
        <p:txBody>
          <a:bodyPr wrap="square" lIns="0" rIns="0" tIns="0" bIns="0" anchor="t">
            <a:spAutoFit/>
          </a:bodyPr>
          <a:lstStyle/>
          <a:p>
            <a:pPr algn="l">
              <a:lnSpc>
                <a:spcPct val="100000"/>
              </a:lnSpc>
            </a:pPr>
            <a:r>
              <a:rPr sz="4050" b="1">
                <a:solidFill>
                  <a:srgbClr val="111111"/>
                </a:solidFill>
                <a:latin typeface="Arial"/>
              </a:rPr>
              <a:t>3 → 5</a:t>
            </a:r>
          </a:p>
        </p:txBody>
      </p:sp>
      <p:sp>
        <p:nvSpPr>
          <p:cNvPr id="36" name="TextBox 35"/>
          <p:cNvSpPr txBox="1"/>
          <p:nvPr/>
        </p:nvSpPr>
        <p:spPr>
          <a:xfrm>
            <a:off x="6254750" y="4749800"/>
            <a:ext cx="1657350" cy="381000"/>
          </a:xfrm>
          <a:prstGeom prst="rect">
            <a:avLst/>
          </a:prstGeom>
          <a:noFill/>
        </p:spPr>
        <p:txBody>
          <a:bodyPr wrap="square" lIns="0" rIns="0" tIns="0" bIns="0" anchor="t">
            <a:spAutoFit/>
          </a:bodyPr>
          <a:lstStyle/>
          <a:p>
            <a:pPr algn="l">
              <a:lnSpc>
                <a:spcPct val="110000"/>
              </a:lnSpc>
            </a:pPr>
            <a:r>
              <a:rPr sz="1350" b="0">
                <a:solidFill>
                  <a:srgbClr val="4A4A4A"/>
                </a:solidFill>
                <a:latin typeface="Arial"/>
              </a:rPr>
              <a:t>family relationships at PNC</a:t>
            </a:r>
          </a:p>
        </p:txBody>
      </p:sp>
      <p:sp>
        <p:nvSpPr>
          <p:cNvPr id="37" name="TextBox 36"/>
          <p:cNvSpPr txBox="1"/>
          <p:nvPr/>
        </p:nvSpPr>
        <p:spPr>
          <a:xfrm>
            <a:off x="8064500" y="4267200"/>
            <a:ext cx="1708150" cy="444500"/>
          </a:xfrm>
          <a:prstGeom prst="rect">
            <a:avLst/>
          </a:prstGeom>
          <a:noFill/>
        </p:spPr>
        <p:txBody>
          <a:bodyPr wrap="square" lIns="0" rIns="0" tIns="0" bIns="0" anchor="t">
            <a:spAutoFit/>
          </a:bodyPr>
          <a:lstStyle/>
          <a:p>
            <a:pPr algn="l">
              <a:lnSpc>
                <a:spcPct val="100000"/>
              </a:lnSpc>
            </a:pPr>
            <a:r>
              <a:rPr sz="4050" b="1">
                <a:solidFill>
                  <a:srgbClr val="111111"/>
                </a:solidFill>
                <a:latin typeface="Arial"/>
              </a:rPr>
              <a:t>$8.5M</a:t>
            </a:r>
          </a:p>
        </p:txBody>
      </p:sp>
      <p:sp>
        <p:nvSpPr>
          <p:cNvPr id="38" name="TextBox 37"/>
          <p:cNvSpPr txBox="1"/>
          <p:nvPr/>
        </p:nvSpPr>
        <p:spPr>
          <a:xfrm>
            <a:off x="8064500" y="4749800"/>
            <a:ext cx="1657350" cy="381000"/>
          </a:xfrm>
          <a:prstGeom prst="rect">
            <a:avLst/>
          </a:prstGeom>
          <a:noFill/>
        </p:spPr>
        <p:txBody>
          <a:bodyPr wrap="square" lIns="0" rIns="0" tIns="0" bIns="0" anchor="t">
            <a:spAutoFit/>
          </a:bodyPr>
          <a:lstStyle/>
          <a:p>
            <a:pPr algn="l">
              <a:lnSpc>
                <a:spcPct val="110000"/>
              </a:lnSpc>
            </a:pPr>
            <a:r>
              <a:rPr sz="1350" b="0">
                <a:solidFill>
                  <a:srgbClr val="4A4A4A"/>
                </a:solidFill>
                <a:latin typeface="Arial"/>
              </a:rPr>
              <a:t>reaches the next generation at PNC</a:t>
            </a:r>
          </a:p>
        </p:txBody>
      </p:sp>
      <p:sp>
        <p:nvSpPr>
          <p:cNvPr id="39" name="TextBox 38"/>
          <p:cNvSpPr txBox="1"/>
          <p:nvPr/>
        </p:nvSpPr>
        <p:spPr>
          <a:xfrm>
            <a:off x="9874250" y="4267200"/>
            <a:ext cx="1708150" cy="444500"/>
          </a:xfrm>
          <a:prstGeom prst="rect">
            <a:avLst/>
          </a:prstGeom>
          <a:noFill/>
        </p:spPr>
        <p:txBody>
          <a:bodyPr wrap="square" lIns="0" rIns="0" tIns="0" bIns="0" anchor="t">
            <a:spAutoFit/>
          </a:bodyPr>
          <a:lstStyle/>
          <a:p>
            <a:pPr algn="l">
              <a:lnSpc>
                <a:spcPct val="100000"/>
              </a:lnSpc>
            </a:pPr>
            <a:r>
              <a:rPr sz="4050" b="1">
                <a:solidFill>
                  <a:srgbClr val="111111"/>
                </a:solidFill>
                <a:latin typeface="Arial"/>
              </a:rPr>
              <a:t>~$216K</a:t>
            </a:r>
          </a:p>
        </p:txBody>
      </p:sp>
      <p:sp>
        <p:nvSpPr>
          <p:cNvPr id="40" name="TextBox 39"/>
          <p:cNvSpPr txBox="1"/>
          <p:nvPr/>
        </p:nvSpPr>
        <p:spPr>
          <a:xfrm>
            <a:off x="9874250" y="4749800"/>
            <a:ext cx="1657350" cy="381000"/>
          </a:xfrm>
          <a:prstGeom prst="rect">
            <a:avLst/>
          </a:prstGeom>
          <a:noFill/>
        </p:spPr>
        <p:txBody>
          <a:bodyPr wrap="square" lIns="0" rIns="0" tIns="0" bIns="0" anchor="t">
            <a:spAutoFit/>
          </a:bodyPr>
          <a:lstStyle/>
          <a:p>
            <a:pPr algn="l">
              <a:lnSpc>
                <a:spcPct val="110000"/>
              </a:lnSpc>
            </a:pPr>
            <a:r>
              <a:rPr sz="1350" b="0">
                <a:solidFill>
                  <a:srgbClr val="4A4A4A"/>
                </a:solidFill>
                <a:latin typeface="Arial"/>
              </a:rPr>
              <a:t>a year in fees, at an illustrative 0.8%</a:t>
            </a:r>
          </a:p>
        </p:txBody>
      </p:sp>
      <p:sp>
        <p:nvSpPr>
          <p:cNvPr id="41" name="Rectangle 40"/>
          <p:cNvSpPr/>
          <p:nvPr/>
        </p:nvSpPr>
        <p:spPr>
          <a:xfrm>
            <a:off x="0" y="5588000"/>
            <a:ext cx="12192000" cy="749300"/>
          </a:xfrm>
          <a:prstGeom prst="rect">
            <a:avLst/>
          </a:prstGeom>
          <a:solidFill>
            <a:srgbClr val="FFB4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08000" y="5588000"/>
            <a:ext cx="2032000" cy="749300"/>
          </a:xfrm>
          <a:prstGeom prst="rect">
            <a:avLst/>
          </a:prstGeom>
          <a:noFill/>
        </p:spPr>
        <p:txBody>
          <a:bodyPr wrap="square" lIns="0" rIns="0" tIns="0" bIns="0" anchor="ctr">
            <a:spAutoFit/>
          </a:bodyPr>
          <a:lstStyle/>
          <a:p>
            <a:pPr algn="l">
              <a:lnSpc>
                <a:spcPct val="100000"/>
              </a:lnSpc>
            </a:pPr>
            <a:r>
              <a:rPr sz="1800" b="1">
                <a:solidFill>
                  <a:srgbClr val="111111"/>
                </a:solidFill>
                <a:latin typeface="Arial"/>
              </a:rPr>
              <a:t>CORE INNOVATION</a:t>
            </a:r>
          </a:p>
        </p:txBody>
      </p:sp>
      <p:sp>
        <p:nvSpPr>
          <p:cNvPr id="43" name="TextBox 42"/>
          <p:cNvSpPr txBox="1"/>
          <p:nvPr/>
        </p:nvSpPr>
        <p:spPr>
          <a:xfrm>
            <a:off x="2540000" y="5588000"/>
            <a:ext cx="9144000" cy="749300"/>
          </a:xfrm>
          <a:prstGeom prst="rect">
            <a:avLst/>
          </a:prstGeom>
          <a:noFill/>
        </p:spPr>
        <p:txBody>
          <a:bodyPr wrap="square" lIns="0" rIns="0" tIns="0" bIns="0" anchor="ctr">
            <a:spAutoFit/>
          </a:bodyPr>
          <a:lstStyle/>
          <a:p>
            <a:pPr algn="l">
              <a:lnSpc>
                <a:spcPct val="115000"/>
              </a:lnSpc>
            </a:pPr>
            <a:r>
              <a:rPr sz="1575" b="1">
                <a:solidFill>
                  <a:srgbClr val="111111"/>
                </a:solidFill>
                <a:latin typeface="Arial"/>
              </a:rPr>
              <a:t>A consented family-intelligence layer on PNC's own commercial signal. </a:t>
            </a:r>
            <a:r>
              <a:rPr sz="1575" b="0">
                <a:solidFill>
                  <a:srgbClr val="111111"/>
                </a:solidFill>
                <a:latin typeface="Arial"/>
              </a:rPr>
              <a:t>AI reads and explains, formulas do the money, and the advisor decides, seeing how far apart the family is, never anyone's words, and only when 3 or more take part.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