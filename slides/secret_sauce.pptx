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2701F"/>
                </a:solidFill>
                <a:latin typeface="Arial"/>
              </a:rPr>
              <a:t>THE SECRET SAUCE &amp; 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6233A"/>
                </a:solidFill>
                <a:latin typeface="Arial"/>
              </a:rPr>
              <a:t>A signal only PNC can see, and answers only a family member would give in private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67208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09728" cy="1481328"/>
          </a:xfrm>
          <a:prstGeom prst="rect">
            <a:avLst/>
          </a:prstGeom>
          <a:solidFill>
            <a:srgbClr val="E27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0078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233A"/>
                </a:solidFill>
                <a:latin typeface="Arial"/>
              </a:rPr>
              <a:t>1  Signal PNC already 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44566C"/>
                </a:solidFill>
                <a:latin typeface="Arial"/>
              </a:rPr>
              <a:t>PNC banks the operating company. Payments to M&amp;A and valuation firms, audited-financials requests and early credit-line paydowns flag a likely sale 12–18 months before close.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70048"/>
            <a:ext cx="6309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E2701F"/>
                </a:solidFill>
                <a:latin typeface="Arial"/>
              </a:rPr>
              <a:t>AI: </a:t>
            </a:r>
            <a:r>
              <a:rPr sz="950" b="0">
                <a:solidFill>
                  <a:srgbClr val="16233A"/>
                </a:solidFill>
                <a:latin typeface="Arial"/>
              </a:rPr>
              <a:t>Gradient-boosted classifier scores likelihood and shows its top reasons</a:t>
            </a:r>
            <a:r>
              <a:rPr sz="950" b="1">
                <a:solidFill>
                  <a:srgbClr val="E2701F"/>
                </a:solidFill>
                <a:latin typeface="Arial"/>
              </a:rPr>
              <a:t>     Human: </a:t>
            </a:r>
            <a:r>
              <a:rPr sz="950" b="0">
                <a:solidFill>
                  <a:srgbClr val="16233A"/>
                </a:solidFill>
                <a:latin typeface="Arial"/>
              </a:rPr>
              <a:t>Advisor decides whether to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82112"/>
            <a:ext cx="67208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82112"/>
            <a:ext cx="109728" cy="1481328"/>
          </a:xfrm>
          <a:prstGeom prst="rect">
            <a:avLst/>
          </a:prstGeom>
          <a:solidFill>
            <a:srgbClr val="6A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310128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233A"/>
                </a:solidFill>
                <a:latin typeface="Arial"/>
              </a:rPr>
              <a:t>2  Private-by-default family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21024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44566C"/>
                </a:solidFill>
                <a:latin typeface="Arial"/>
              </a:rPr>
              <a:t>Each family member checks in alone. A language model tags answers into six themes; a fixed formula scores where members disagree. Advisor sees the gap, never the words, unless that person shares.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279392"/>
            <a:ext cx="6309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6A5A8E"/>
                </a:solidFill>
                <a:latin typeface="Arial"/>
              </a:rPr>
              <a:t>AI: </a:t>
            </a:r>
            <a:r>
              <a:rPr sz="950" b="0">
                <a:solidFill>
                  <a:srgbClr val="16233A"/>
                </a:solidFill>
                <a:latin typeface="Arial"/>
              </a:rPr>
              <a:t>LLM extracts stances; divergence = spread of stances (no model)</a:t>
            </a:r>
            <a:r>
              <a:rPr sz="950" b="1">
                <a:solidFill>
                  <a:srgbClr val="6A5A8E"/>
                </a:solidFill>
                <a:latin typeface="Arial"/>
              </a:rPr>
              <a:t>     Human: </a:t>
            </a:r>
            <a:r>
              <a:rPr sz="950" b="0">
                <a:solidFill>
                  <a:srgbClr val="16233A"/>
                </a:solidFill>
                <a:latin typeface="Arial"/>
              </a:rPr>
              <a:t>Each member decides what is shared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91456"/>
            <a:ext cx="67208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791456"/>
            <a:ext cx="109728" cy="1481328"/>
          </a:xfrm>
          <a:prstGeom prst="rect">
            <a:avLst/>
          </a:prstGeom>
          <a:solidFill>
            <a:srgbClr val="4F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919472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233A"/>
                </a:solidFill>
                <a:latin typeface="Arial"/>
              </a:rPr>
              <a:t>3  One household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230368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44566C"/>
                </a:solidFill>
                <a:latin typeface="Arial"/>
              </a:rPr>
              <a:t>Business ↔ owners ↔ spouse ↔ heirs ↔ trusts ↔ accounts, with consent attached to every link. Heirs become PNC relationships before any assets move.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888736"/>
            <a:ext cx="6309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F8571"/>
                </a:solidFill>
                <a:latin typeface="Arial"/>
              </a:rPr>
              <a:t>AI: </a:t>
            </a:r>
            <a:r>
              <a:rPr sz="950" b="0">
                <a:solidFill>
                  <a:srgbClr val="16233A"/>
                </a:solidFill>
                <a:latin typeface="Arial"/>
              </a:rPr>
              <a:t>Graph built from existing PNC records plus invites</a:t>
            </a:r>
            <a:r>
              <a:rPr sz="950" b="1">
                <a:solidFill>
                  <a:srgbClr val="4F8571"/>
                </a:solidFill>
                <a:latin typeface="Arial"/>
              </a:rPr>
              <a:t>     Human: </a:t>
            </a:r>
            <a:r>
              <a:rPr sz="950" b="0">
                <a:solidFill>
                  <a:srgbClr val="16233A"/>
                </a:solidFill>
                <a:latin typeface="Arial"/>
              </a:rPr>
              <a:t>Family approves; advisor routes specialists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1572768"/>
            <a:ext cx="4114800" cy="3163824"/>
          </a:xfrm>
          <a:prstGeom prst="roundRect">
            <a:avLst>
              <a:gd name="adj" fmla="val 6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700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Who sees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6654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C9D0D8"/>
                </a:solidFill>
                <a:latin typeface="Arial"/>
              </a:rPr>
              <a:t>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06654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C9D0D8"/>
                </a:solidFill>
                <a:latin typeface="Arial"/>
              </a:rPr>
              <a:t>Family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19" y="206654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C9D0D8"/>
                </a:solidFill>
                <a:latin typeface="Arial"/>
              </a:rPr>
              <a:t>Advisor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3317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22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4140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Raw answer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4140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4140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Arial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3032" y="24140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2701F"/>
                </a:solidFill>
                <a:latin typeface="Arial"/>
              </a:rPr>
              <a:t>if shared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27889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22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28712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Theme stances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28712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28712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Arial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43032" y="28712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Arial"/>
              </a:rP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32461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22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33284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Gap score per theme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33284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2" y="33284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Arial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3032" y="33284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79" y="37033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22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78561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“Has checked in”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43032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26679" y="41605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22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42428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Sale-likelihood reasons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5712" y="42428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Arial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42428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8A97A8"/>
                </a:solidFill>
                <a:latin typeface="Arial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424281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43800" y="4864608"/>
            <a:ext cx="41148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4974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33A"/>
                </a:solidFill>
                <a:latin typeface="Arial"/>
              </a:rPr>
              <a:t>Why competitors struggle to copy 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285232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E2701F"/>
                </a:solidFill>
                <a:latin typeface="Arial"/>
              </a:rPr>
              <a:t>Timing. </a:t>
            </a:r>
            <a:r>
              <a:rPr sz="950" b="0">
                <a:solidFill>
                  <a:srgbClr val="44566C"/>
                </a:solidFill>
                <a:latin typeface="Arial"/>
              </a:rPr>
              <a:t>RIAs and wirehouses see the money after it moves; PNC sees the business before it sells.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6A5A8E"/>
                </a:solidFill>
                <a:latin typeface="Arial"/>
              </a:rPr>
              <a:t>Trust. </a:t>
            </a:r>
            <a:r>
              <a:rPr sz="950" b="0">
                <a:solidFill>
                  <a:srgbClr val="44566C"/>
                </a:solidFill>
                <a:latin typeface="Arial"/>
              </a:rPr>
              <a:t>Honest, private answers build up per family and can't be scraped or bought.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4F8571"/>
                </a:solidFill>
                <a:latin typeface="Arial"/>
              </a:rPr>
              <a:t>One roof. </a:t>
            </a:r>
            <a:r>
              <a:rPr sz="950" b="0">
                <a:solidFill>
                  <a:srgbClr val="44566C"/>
                </a:solidFill>
                <a:latin typeface="Arial"/>
              </a:rPr>
              <a:t>Commercial banking, Private Bank and Hawthorn IFS already sit inside PNC.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44566C"/>
                </a:solidFill>
                <a:latin typeface="Arial"/>
              </a:rPr>
              <a:t>Rule: fixed formulas calculate every number; language models only explain them; an advisor approves every output before a client sees it. Signal use must be validated against PNC data-sharing and consent policies.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