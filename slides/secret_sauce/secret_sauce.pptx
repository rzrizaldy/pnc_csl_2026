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EF6A00"/>
                </a:solidFill>
                <a:latin typeface="Barlow"/>
              </a:rPr>
              <a:t>THE SECRET SAUCE &amp; CORE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14D"/>
                </a:solidFill>
                <a:latin typeface="Barlow"/>
              </a:rPr>
              <a:t>A signal only PNC can see, and answers only a family member would give in private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72768"/>
            <a:ext cx="672084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109728" cy="1481328"/>
          </a:xfrm>
          <a:prstGeom prst="rect">
            <a:avLst/>
          </a:prstGeom>
          <a:solidFill>
            <a:srgbClr val="E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700784"/>
            <a:ext cx="6309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214D"/>
                </a:solidFill>
                <a:latin typeface="Barlow"/>
              </a:rPr>
              <a:t>1  Signal PNC already holds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011680"/>
            <a:ext cx="6309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E646E"/>
                </a:solidFill>
                <a:latin typeface="Barlow"/>
              </a:rPr>
              <a:t>PNC banks the operating company. Payments to M&amp;A and valuation firms, audited-financials requests and early credit-line paydowns flag a likely sale 12–18 months before close.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670048"/>
            <a:ext cx="6309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EF6A00"/>
                </a:solidFill>
                <a:latin typeface="Barlow"/>
              </a:rPr>
              <a:t>AI: </a:t>
            </a:r>
            <a:r>
              <a:rPr sz="950" b="0">
                <a:solidFill>
                  <a:srgbClr val="10214D"/>
                </a:solidFill>
                <a:latin typeface="Barlow"/>
              </a:rPr>
              <a:t>Gradient-boosted classifier scores likelihood and shows its top reasons</a:t>
            </a:r>
            <a:r>
              <a:rPr sz="950" b="1">
                <a:solidFill>
                  <a:srgbClr val="EF6A00"/>
                </a:solidFill>
                <a:latin typeface="Barlow"/>
              </a:rPr>
              <a:t>     Human: </a:t>
            </a:r>
            <a:r>
              <a:rPr sz="950" b="0">
                <a:solidFill>
                  <a:srgbClr val="10214D"/>
                </a:solidFill>
                <a:latin typeface="Barlow"/>
              </a:rPr>
              <a:t>Advisor decides whether to 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82112"/>
            <a:ext cx="672084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182112"/>
            <a:ext cx="109728" cy="1481328"/>
          </a:xfrm>
          <a:prstGeom prst="rect">
            <a:avLst/>
          </a:prstGeom>
          <a:solidFill>
            <a:srgbClr val="6D4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310128"/>
            <a:ext cx="6309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214D"/>
                </a:solidFill>
                <a:latin typeface="Barlow"/>
              </a:rPr>
              <a:t>2  Private-by-default family alignment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621024"/>
            <a:ext cx="6309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E646E"/>
                </a:solidFill>
                <a:latin typeface="Barlow"/>
              </a:rPr>
              <a:t>Each family member checks in alone. A language model tags answers into six themes; a fixed formula scores where members disagree. Advisor sees the gap, never the words, unless that person shares.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279392"/>
            <a:ext cx="6309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6D4AA0"/>
                </a:solidFill>
                <a:latin typeface="Barlow"/>
              </a:rPr>
              <a:t>AI: </a:t>
            </a:r>
            <a:r>
              <a:rPr sz="950" b="0">
                <a:solidFill>
                  <a:srgbClr val="10214D"/>
                </a:solidFill>
                <a:latin typeface="Barlow"/>
              </a:rPr>
              <a:t>LLM extracts stances; divergence = spread of stances (no model)</a:t>
            </a:r>
            <a:r>
              <a:rPr sz="950" b="1">
                <a:solidFill>
                  <a:srgbClr val="6D4AA0"/>
                </a:solidFill>
                <a:latin typeface="Barlow"/>
              </a:rPr>
              <a:t>     Human: </a:t>
            </a:r>
            <a:r>
              <a:rPr sz="950" b="0">
                <a:solidFill>
                  <a:srgbClr val="10214D"/>
                </a:solidFill>
                <a:latin typeface="Barlow"/>
              </a:rPr>
              <a:t>Each member decides what is shared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791456"/>
            <a:ext cx="672084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791456"/>
            <a:ext cx="109728" cy="1481328"/>
          </a:xfrm>
          <a:prstGeom prst="rect">
            <a:avLst/>
          </a:prstGeom>
          <a:solidFill>
            <a:srgbClr val="6F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919472"/>
            <a:ext cx="6309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214D"/>
                </a:solidFill>
                <a:latin typeface="Barlow"/>
              </a:rPr>
              <a:t>3  One household graph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230368"/>
            <a:ext cx="6309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E646E"/>
                </a:solidFill>
                <a:latin typeface="Barlow"/>
              </a:rPr>
              <a:t>Business ↔ owners ↔ spouse ↔ heirs ↔ trusts ↔ accounts, with consent attached to every link. Heirs become PNC relationships before any assets move.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5888736"/>
            <a:ext cx="6309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6F9A4B"/>
                </a:solidFill>
                <a:latin typeface="Barlow"/>
              </a:rPr>
              <a:t>AI: </a:t>
            </a:r>
            <a:r>
              <a:rPr sz="950" b="0">
                <a:solidFill>
                  <a:srgbClr val="10214D"/>
                </a:solidFill>
                <a:latin typeface="Barlow"/>
              </a:rPr>
              <a:t>Graph built from existing PNC records plus invites</a:t>
            </a:r>
            <a:r>
              <a:rPr sz="950" b="1">
                <a:solidFill>
                  <a:srgbClr val="6F9A4B"/>
                </a:solidFill>
                <a:latin typeface="Barlow"/>
              </a:rPr>
              <a:t>     Human: </a:t>
            </a:r>
            <a:r>
              <a:rPr sz="950" b="0">
                <a:solidFill>
                  <a:srgbClr val="10214D"/>
                </a:solidFill>
                <a:latin typeface="Barlow"/>
              </a:rPr>
              <a:t>Family approves; advisor routes specialists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3800" y="1572768"/>
            <a:ext cx="4114800" cy="3163824"/>
          </a:xfrm>
          <a:prstGeom prst="roundRect">
            <a:avLst>
              <a:gd name="adj" fmla="val 6000"/>
            </a:avLst>
          </a:prstGeom>
          <a:solidFill>
            <a:srgbClr val="102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170078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Barlow"/>
              </a:rPr>
              <a:t>Who sees what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066543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C9D0D8"/>
                </a:solidFill>
                <a:latin typeface="Barlow"/>
              </a:rPr>
              <a:t>Member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19" y="2066543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C9D0D8"/>
                </a:solidFill>
                <a:latin typeface="Barlow"/>
              </a:rPr>
              <a:t>Family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61319" y="2066543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C9D0D8"/>
                </a:solidFill>
                <a:latin typeface="Barlow"/>
              </a:rPr>
              <a:t>Advisor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26679" y="2331720"/>
            <a:ext cx="3749039" cy="384048"/>
          </a:xfrm>
          <a:prstGeom prst="roundRect">
            <a:avLst>
              <a:gd name="adj" fmla="val 20000"/>
            </a:avLst>
          </a:prstGeom>
          <a:solidFill>
            <a:srgbClr val="1A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24140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Barlow"/>
              </a:rPr>
              <a:t>Raw answer 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5712" y="241401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Barlow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57232" y="241401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8A97A8"/>
                </a:solidFill>
                <a:latin typeface="Barlow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43032" y="241401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EF6A00"/>
                </a:solidFill>
                <a:latin typeface="Barlow"/>
              </a:rPr>
              <a:t>if shared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26679" y="2788920"/>
            <a:ext cx="3749039" cy="384048"/>
          </a:xfrm>
          <a:prstGeom prst="roundRect">
            <a:avLst>
              <a:gd name="adj" fmla="val 20000"/>
            </a:avLst>
          </a:prstGeom>
          <a:solidFill>
            <a:srgbClr val="1A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0" y="28712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Barlow"/>
              </a:rPr>
              <a:t>Theme stances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25712" y="287121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Barlow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57232" y="287121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8A97A8"/>
                </a:solidFill>
                <a:latin typeface="Barlow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43032" y="287121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8A97A8"/>
                </a:solidFill>
                <a:latin typeface="Barlow"/>
              </a:rPr>
              <a:t>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26679" y="3246120"/>
            <a:ext cx="3749039" cy="384048"/>
          </a:xfrm>
          <a:prstGeom prst="roundRect">
            <a:avLst>
              <a:gd name="adj" fmla="val 20000"/>
            </a:avLst>
          </a:prstGeom>
          <a:solidFill>
            <a:srgbClr val="1A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0" y="33284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Barlow"/>
              </a:rPr>
              <a:t>Gap score per theme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25712" y="332841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Barlow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57232" y="332841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8A97A8"/>
                </a:solidFill>
                <a:latin typeface="Barlow"/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43032" y="332841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Barlow"/>
              </a:rPr>
              <a:t>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26679" y="3703320"/>
            <a:ext cx="3749039" cy="384048"/>
          </a:xfrm>
          <a:prstGeom prst="roundRect">
            <a:avLst>
              <a:gd name="adj" fmla="val 20000"/>
            </a:avLst>
          </a:prstGeom>
          <a:solidFill>
            <a:srgbClr val="1A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0" y="3785615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Barlow"/>
              </a:rPr>
              <a:t>“Has checked in”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25712" y="3785615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Barlow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57232" y="3785615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Barlow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43032" y="3785615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Barlow"/>
              </a:rPr>
              <a:t>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26679" y="4160520"/>
            <a:ext cx="3749039" cy="384048"/>
          </a:xfrm>
          <a:prstGeom prst="roundRect">
            <a:avLst>
              <a:gd name="adj" fmla="val 20000"/>
            </a:avLst>
          </a:prstGeom>
          <a:solidFill>
            <a:srgbClr val="1A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63840" y="42428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Barlow"/>
              </a:rPr>
              <a:t>Sale-likelihood reasons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25712" y="424281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8A97A8"/>
                </a:solidFill>
                <a:latin typeface="Barlow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57232" y="424281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8A97A8"/>
                </a:solidFill>
                <a:latin typeface="Barlow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43032" y="424281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Barlow"/>
              </a:rPr>
              <a:t>✓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543800" y="4864608"/>
            <a:ext cx="411480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0" y="497433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0214D"/>
                </a:solidFill>
                <a:latin typeface="Barlow"/>
              </a:rPr>
              <a:t>Why competitors struggle to copy it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5285232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EF6A00"/>
                </a:solidFill>
                <a:latin typeface="Barlow"/>
              </a:rPr>
              <a:t>Timing. </a:t>
            </a:r>
            <a:r>
              <a:rPr sz="950" b="0">
                <a:solidFill>
                  <a:srgbClr val="5E646E"/>
                </a:solidFill>
                <a:latin typeface="Barlow"/>
              </a:rPr>
              <a:t>RIAs and wirehouses see the money after it moves; PNC sees the business before it sells.</a:t>
            </a:r>
          </a:p>
          <a:p>
            <a:pPr algn="l">
              <a:spcAft>
                <a:spcPts val="300"/>
              </a:spcAft>
            </a:pPr>
            <a:r>
              <a:rPr sz="950" b="1">
                <a:solidFill>
                  <a:srgbClr val="6D4AA0"/>
                </a:solidFill>
                <a:latin typeface="Barlow"/>
              </a:rPr>
              <a:t>Trust. </a:t>
            </a:r>
            <a:r>
              <a:rPr sz="950" b="0">
                <a:solidFill>
                  <a:srgbClr val="5E646E"/>
                </a:solidFill>
                <a:latin typeface="Barlow"/>
              </a:rPr>
              <a:t>Honest, private answers build up per family and can't be scraped or bought.</a:t>
            </a:r>
          </a:p>
          <a:p>
            <a:pPr algn="l">
              <a:spcAft>
                <a:spcPts val="300"/>
              </a:spcAft>
            </a:pPr>
            <a:r>
              <a:rPr sz="950" b="1">
                <a:solidFill>
                  <a:srgbClr val="6F9A4B"/>
                </a:solidFill>
                <a:latin typeface="Barlow"/>
              </a:rPr>
              <a:t>One roof. </a:t>
            </a:r>
            <a:r>
              <a:rPr sz="950" b="0">
                <a:solidFill>
                  <a:srgbClr val="5E646E"/>
                </a:solidFill>
                <a:latin typeface="Barlow"/>
              </a:rPr>
              <a:t>Commercial banking, Private Bank and Hawthorn IFS already sit inside PNC.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47395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E646E"/>
                </a:solidFill>
                <a:latin typeface="Barlow"/>
              </a:rPr>
              <a:t>Rule: fixed formulas calculate every number; language models only explain them; an advisor approves every output before a client sees it. Signal use must be validated against PNC data-sharing and consent policies.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